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32B"/>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12191695" cy="82296"/>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59843" y="1188720"/>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rot="900000">
            <a:off x="6281005" y="1217836"/>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rot="1800000">
            <a:off x="6487096" y="1303202"/>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rot="2700000">
            <a:off x="6664070" y="1438999"/>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3600000">
            <a:off x="6799867" y="1615973"/>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4500000">
            <a:off x="6885233" y="1822064"/>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rot="5400000">
            <a:off x="6914349" y="2043226"/>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rot="6300000">
            <a:off x="6885233" y="2264389"/>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rot="7200000">
            <a:off x="6799867" y="2470480"/>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rot="8100000">
            <a:off x="6664070" y="2647454"/>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rot="9000000">
            <a:off x="6487096" y="2783251"/>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rot="9900000">
            <a:off x="6281005" y="2868616"/>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rot="10800000">
            <a:off x="6059843" y="2897733"/>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rot="11700000">
            <a:off x="5838680" y="2868616"/>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rot="12600000">
            <a:off x="5632589" y="2783251"/>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rot="13500000">
            <a:off x="5455615" y="2647454"/>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rot="14400000">
            <a:off x="5319818" y="2470480"/>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rot="15300000">
            <a:off x="5234452" y="2264389"/>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rot="16200000">
            <a:off x="5205336" y="2043226"/>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rot="17100000">
            <a:off x="5234452" y="1822064"/>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rot="18000000">
            <a:off x="5319818" y="1615973"/>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rot="18900000">
            <a:off x="5455615" y="1438999"/>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rot="19800000">
            <a:off x="5632589" y="1303202"/>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rot="20700000">
            <a:off x="5838680" y="1217836"/>
            <a:ext cx="72009" cy="21122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08549" y="1361541"/>
            <a:ext cx="1574596" cy="1574596"/>
          </a:xfrm>
          <a:prstGeom prst="ellipse">
            <a:avLst/>
          </a:prstGeom>
          <a:noFill/>
          <a:ln w="20320">
            <a:solidFill>
              <a:srgbClr val="C29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500573" y="1553565"/>
            <a:ext cx="1190548" cy="1190548"/>
          </a:xfrm>
          <a:prstGeom prst="ellipse">
            <a:avLst/>
          </a:prstGeom>
          <a:solidFill>
            <a:srgbClr val="14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5798210" y="1779769"/>
            <a:ext cx="595274" cy="761952"/>
          </a:xfrm>
          <a:custGeom>
            <a:avLst/>
            <a:gdLst/>
            <a:ahLst/>
            <a:cxnLst/>
            <a:rect l="l" t="t" r="r" b="b"/>
            <a:pathLst>
              <a:path w="595274" h="761952">
                <a:moveTo>
                  <a:pt x="297637" y="0"/>
                </a:moveTo>
                <a:lnTo>
                  <a:pt x="595274" y="190488"/>
                </a:lnTo>
                <a:lnTo>
                  <a:pt x="595274" y="398834"/>
                </a:lnTo>
                <a:lnTo>
                  <a:pt x="297637" y="761952"/>
                </a:lnTo>
                <a:lnTo>
                  <a:pt x="0" y="398834"/>
                </a:lnTo>
                <a:lnTo>
                  <a:pt x="0" y="190488"/>
                </a:lnTo>
                <a:lnTo>
                  <a:pt x="297637" y="0"/>
                </a:lnTo>
                <a:close/>
              </a:path>
            </a:pathLst>
          </a:custGeom>
          <a:noFill/>
          <a:ln w="28575">
            <a:solidFill>
              <a:srgbClr val="F6F4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006556" y="2071454"/>
            <a:ext cx="178582" cy="178582"/>
          </a:xfrm>
          <a:prstGeom prst="ellipse">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0" y="3429000"/>
            <a:ext cx="12191695" cy="1188720"/>
          </a:xfrm>
          <a:prstGeom prst="rect">
            <a:avLst/>
          </a:prstGeom>
          <a:noFill/>
        </p:spPr>
        <p:txBody>
          <a:bodyPr wrap="square" anchor="t" lIns="0" rIns="0" tIns="0" bIns="0">
            <a:spAutoFit/>
          </a:bodyPr>
          <a:lstStyle/>
          <a:p>
            <a:pPr algn="ctr">
              <a:lnSpc>
                <a:spcPct val="100000"/>
              </a:lnSpc>
              <a:spcAft>
                <a:spcPts val="0"/>
              </a:spcAft>
            </a:pPr>
            <a:r>
              <a:rPr sz="6000" b="1" i="0">
                <a:solidFill>
                  <a:srgbClr val="F6F4FB"/>
                </a:solidFill>
                <a:latin typeface="Fraunces"/>
              </a:rPr>
              <a:t>VAULTKEEP</a:t>
            </a:r>
          </a:p>
        </p:txBody>
      </p:sp>
      <p:sp>
        <p:nvSpPr>
          <p:cNvPr id="33" name="TextBox 32"/>
          <p:cNvSpPr txBox="1"/>
          <p:nvPr/>
        </p:nvSpPr>
        <p:spPr>
          <a:xfrm>
            <a:off x="0" y="4343400"/>
            <a:ext cx="12191695" cy="548640"/>
          </a:xfrm>
          <a:prstGeom prst="rect">
            <a:avLst/>
          </a:prstGeom>
          <a:noFill/>
        </p:spPr>
        <p:txBody>
          <a:bodyPr wrap="square" anchor="t" lIns="0" rIns="0" tIns="0" bIns="0">
            <a:spAutoFit/>
          </a:bodyPr>
          <a:lstStyle/>
          <a:p>
            <a:pPr algn="ctr">
              <a:lnSpc>
                <a:spcPct val="100000"/>
              </a:lnSpc>
              <a:spcAft>
                <a:spcPts val="0"/>
              </a:spcAft>
            </a:pPr>
            <a:r>
              <a:rPr sz="2200" b="0" i="1">
                <a:solidFill>
                  <a:srgbClr val="C2913C"/>
                </a:solidFill>
                <a:latin typeface="Fraunces"/>
              </a:rPr>
              <a:t>Identity, verified.</a:t>
            </a:r>
          </a:p>
        </p:txBody>
      </p:sp>
      <p:sp>
        <p:nvSpPr>
          <p:cNvPr id="34" name="TextBox 33"/>
          <p:cNvSpPr txBox="1"/>
          <p:nvPr/>
        </p:nvSpPr>
        <p:spPr>
          <a:xfrm>
            <a:off x="0" y="4983480"/>
            <a:ext cx="12191695" cy="457200"/>
          </a:xfrm>
          <a:prstGeom prst="rect">
            <a:avLst/>
          </a:prstGeom>
          <a:noFill/>
        </p:spPr>
        <p:txBody>
          <a:bodyPr wrap="square" anchor="t" lIns="0" rIns="0" tIns="0" bIns="0">
            <a:spAutoFit/>
          </a:bodyPr>
          <a:lstStyle/>
          <a:p>
            <a:pPr algn="ctr">
              <a:lnSpc>
                <a:spcPct val="100000"/>
              </a:lnSpc>
              <a:spcAft>
                <a:spcPts val="0"/>
              </a:spcAft>
            </a:pPr>
            <a:r>
              <a:rPr sz="1450" b="0" i="0">
                <a:solidFill>
                  <a:srgbClr val="C7C2DE"/>
                </a:solidFill>
                <a:latin typeface="IBM Plex Sans"/>
              </a:rPr>
              <a:t>A full-stack authentication &amp; identity-management system — FastAPI · MongoDB · React</a:t>
            </a:r>
          </a:p>
        </p:txBody>
      </p:sp>
      <p:sp>
        <p:nvSpPr>
          <p:cNvPr id="35" name="TextBox 34"/>
          <p:cNvSpPr txBox="1"/>
          <p:nvPr/>
        </p:nvSpPr>
        <p:spPr>
          <a:xfrm>
            <a:off x="0" y="6172200"/>
            <a:ext cx="12191695" cy="365760"/>
          </a:xfrm>
          <a:prstGeom prst="rect">
            <a:avLst/>
          </a:prstGeom>
          <a:noFill/>
        </p:spPr>
        <p:txBody>
          <a:bodyPr wrap="square" anchor="t" lIns="0" rIns="0" tIns="0" bIns="0">
            <a:spAutoFit/>
          </a:bodyPr>
          <a:lstStyle/>
          <a:p>
            <a:pPr algn="ctr">
              <a:lnSpc>
                <a:spcPct val="100000"/>
              </a:lnSpc>
              <a:spcAft>
                <a:spcPts val="0"/>
              </a:spcAft>
            </a:pPr>
            <a:r>
              <a:rPr sz="1300" b="1" i="0">
                <a:solidFill>
                  <a:srgbClr val="F6F4FB"/>
                </a:solidFill>
                <a:latin typeface="IBM Plex Sans"/>
              </a:rPr>
              <a:t>Kassem Amin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F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OVERVIEW</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14132B"/>
                </a:solidFill>
                <a:latin typeface="Fraunces"/>
              </a:rPr>
              <a:t>Why this exists</a:t>
            </a:r>
          </a:p>
        </p:txBody>
      </p:sp>
      <p:sp>
        <p:nvSpPr>
          <p:cNvPr id="4" name="TextBox 3"/>
          <p:cNvSpPr txBox="1"/>
          <p:nvPr/>
        </p:nvSpPr>
        <p:spPr>
          <a:xfrm>
            <a:off x="640080" y="1600200"/>
            <a:ext cx="10881360" cy="1188720"/>
          </a:xfrm>
          <a:prstGeom prst="rect">
            <a:avLst/>
          </a:prstGeom>
          <a:noFill/>
        </p:spPr>
        <p:txBody>
          <a:bodyPr wrap="square" anchor="t" lIns="0" rIns="0" tIns="0" bIns="0">
            <a:spAutoFit/>
          </a:bodyPr>
          <a:lstStyle/>
          <a:p>
            <a:pPr algn="l">
              <a:lnSpc>
                <a:spcPct val="130000"/>
              </a:lnSpc>
              <a:spcAft>
                <a:spcPts val="0"/>
              </a:spcAft>
            </a:pPr>
            <a:r>
              <a:rPr sz="1550" b="0" i="0">
                <a:solidFill>
                  <a:srgbClr val="14132B"/>
                </a:solidFill>
                <a:latin typeface="IBM Plex Sans"/>
              </a:rPr>
              <a:t>Every product needs a trustworthy identity layer before it can build anything else — </a:t>
            </a:r>
          </a:p>
        </p:txBody>
      </p:sp>
      <p:sp>
        <p:nvSpPr>
          <p:cNvPr id="5" name="TextBox 4"/>
          <p:cNvSpPr txBox="1"/>
          <p:nvPr/>
        </p:nvSpPr>
        <p:spPr>
          <a:xfrm>
            <a:off x="640080" y="1965960"/>
            <a:ext cx="10881360" cy="1463040"/>
          </a:xfrm>
          <a:prstGeom prst="rect">
            <a:avLst/>
          </a:prstGeom>
          <a:noFill/>
        </p:spPr>
        <p:txBody>
          <a:bodyPr wrap="square" anchor="t" lIns="0" rIns="0" tIns="0" bIns="0">
            <a:spAutoFit/>
          </a:bodyPr>
          <a:lstStyle/>
          <a:p>
            <a:pPr algn="l">
              <a:lnSpc>
                <a:spcPct val="135000"/>
              </a:lnSpc>
              <a:spcAft>
                <a:spcPts val="0"/>
              </a:spcAft>
            </a:pPr>
            <a:r>
              <a:rPr sz="1550" b="0" i="0">
                <a:solidFill>
                  <a:srgbClr val="625C7A"/>
                </a:solidFill>
                <a:latin typeface="IBM Plex Sans"/>
              </a:rPr>
              <a:t>who a user is, what they're allowed to do, and how that's proven on every request. Vaultkeep is that foundation: a complete, production-deployed reference implementation of self-service registration, secure login, role-based access, and the admin tooling a real team needs to manage its user base — not a tutorial toy.</a:t>
            </a:r>
          </a:p>
        </p:txBody>
      </p:sp>
      <p:sp>
        <p:nvSpPr>
          <p:cNvPr id="6" name="Rounded Rectangle 5"/>
          <p:cNvSpPr/>
          <p:nvPr/>
        </p:nvSpPr>
        <p:spPr>
          <a:xfrm>
            <a:off x="640080" y="3611880"/>
            <a:ext cx="3429000" cy="2331720"/>
          </a:xfrm>
          <a:prstGeom prst="roundRect">
            <a:avLst>
              <a:gd name="adj" fmla="val 6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611880"/>
            <a:ext cx="3429000" cy="82296"/>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886200"/>
            <a:ext cx="2916936" cy="548640"/>
          </a:xfrm>
          <a:prstGeom prst="rect">
            <a:avLst/>
          </a:prstGeom>
          <a:noFill/>
        </p:spPr>
        <p:txBody>
          <a:bodyPr wrap="square" anchor="t" lIns="0" rIns="0" tIns="0" bIns="0">
            <a:spAutoFit/>
          </a:bodyPr>
          <a:lstStyle/>
          <a:p>
            <a:pPr algn="l">
              <a:lnSpc>
                <a:spcPct val="100000"/>
              </a:lnSpc>
              <a:spcAft>
                <a:spcPts val="0"/>
              </a:spcAft>
            </a:pPr>
            <a:r>
              <a:rPr sz="1650" b="1" i="0">
                <a:solidFill>
                  <a:srgbClr val="4B3F94"/>
                </a:solidFill>
                <a:latin typeface="Fraunces"/>
              </a:rPr>
              <a:t>Who's asking?</a:t>
            </a:r>
          </a:p>
        </p:txBody>
      </p:sp>
      <p:sp>
        <p:nvSpPr>
          <p:cNvPr id="9" name="TextBox 8"/>
          <p:cNvSpPr txBox="1"/>
          <p:nvPr/>
        </p:nvSpPr>
        <p:spPr>
          <a:xfrm>
            <a:off x="896112" y="4370832"/>
            <a:ext cx="2916936" cy="1463040"/>
          </a:xfrm>
          <a:prstGeom prst="rect">
            <a:avLst/>
          </a:prstGeom>
          <a:noFill/>
        </p:spPr>
        <p:txBody>
          <a:bodyPr wrap="square" anchor="t" lIns="0" rIns="0" tIns="0" bIns="0">
            <a:spAutoFit/>
          </a:bodyPr>
          <a:lstStyle/>
          <a:p>
            <a:pPr algn="l">
              <a:lnSpc>
                <a:spcPct val="130000"/>
              </a:lnSpc>
              <a:spcAft>
                <a:spcPts val="0"/>
              </a:spcAft>
            </a:pPr>
            <a:r>
              <a:rPr sz="1200" b="0" i="0">
                <a:solidFill>
                  <a:srgbClr val="625C7A"/>
                </a:solidFill>
                <a:latin typeface="IBM Plex Sans"/>
              </a:rPr>
              <a:t>Self-service registration and JWT-based login — every request proves identity with a signed, expiring token.</a:t>
            </a:r>
          </a:p>
        </p:txBody>
      </p:sp>
      <p:sp>
        <p:nvSpPr>
          <p:cNvPr id="10" name="Rounded Rectangle 9"/>
          <p:cNvSpPr/>
          <p:nvPr/>
        </p:nvSpPr>
        <p:spPr>
          <a:xfrm>
            <a:off x="4389120" y="3611880"/>
            <a:ext cx="3429000" cy="2331720"/>
          </a:xfrm>
          <a:prstGeom prst="roundRect">
            <a:avLst>
              <a:gd name="adj" fmla="val 6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3611880"/>
            <a:ext cx="3429000" cy="82296"/>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3886200"/>
            <a:ext cx="2916936" cy="548640"/>
          </a:xfrm>
          <a:prstGeom prst="rect">
            <a:avLst/>
          </a:prstGeom>
          <a:noFill/>
        </p:spPr>
        <p:txBody>
          <a:bodyPr wrap="square" anchor="t" lIns="0" rIns="0" tIns="0" bIns="0">
            <a:spAutoFit/>
          </a:bodyPr>
          <a:lstStyle/>
          <a:p>
            <a:pPr algn="l">
              <a:lnSpc>
                <a:spcPct val="100000"/>
              </a:lnSpc>
              <a:spcAft>
                <a:spcPts val="0"/>
              </a:spcAft>
            </a:pPr>
            <a:r>
              <a:rPr sz="1650" b="1" i="0">
                <a:solidFill>
                  <a:srgbClr val="4B3F94"/>
                </a:solidFill>
                <a:latin typeface="Fraunces"/>
              </a:rPr>
              <a:t>What can they do?</a:t>
            </a:r>
          </a:p>
        </p:txBody>
      </p:sp>
      <p:sp>
        <p:nvSpPr>
          <p:cNvPr id="13" name="TextBox 12"/>
          <p:cNvSpPr txBox="1"/>
          <p:nvPr/>
        </p:nvSpPr>
        <p:spPr>
          <a:xfrm>
            <a:off x="4645152" y="4370832"/>
            <a:ext cx="2916936" cy="1463040"/>
          </a:xfrm>
          <a:prstGeom prst="rect">
            <a:avLst/>
          </a:prstGeom>
          <a:noFill/>
        </p:spPr>
        <p:txBody>
          <a:bodyPr wrap="square" anchor="t" lIns="0" rIns="0" tIns="0" bIns="0">
            <a:spAutoFit/>
          </a:bodyPr>
          <a:lstStyle/>
          <a:p>
            <a:pPr algn="l">
              <a:lnSpc>
                <a:spcPct val="130000"/>
              </a:lnSpc>
              <a:spcAft>
                <a:spcPts val="0"/>
              </a:spcAft>
            </a:pPr>
            <a:r>
              <a:rPr sz="1200" b="0" i="0">
                <a:solidFill>
                  <a:srgbClr val="625C7A"/>
                </a:solidFill>
                <a:latin typeface="IBM Plex Sans"/>
              </a:rPr>
              <a:t>Two account types, client and admin, enforced server-side by dependency injection — never by the client's word.</a:t>
            </a:r>
          </a:p>
        </p:txBody>
      </p:sp>
      <p:sp>
        <p:nvSpPr>
          <p:cNvPr id="14" name="Rounded Rectangle 13"/>
          <p:cNvSpPr/>
          <p:nvPr/>
        </p:nvSpPr>
        <p:spPr>
          <a:xfrm>
            <a:off x="8138159" y="3611880"/>
            <a:ext cx="3429000" cy="2331720"/>
          </a:xfrm>
          <a:prstGeom prst="roundRect">
            <a:avLst>
              <a:gd name="adj" fmla="val 6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59" y="3611880"/>
            <a:ext cx="3429000" cy="82296"/>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4191" y="3886200"/>
            <a:ext cx="2916936" cy="548640"/>
          </a:xfrm>
          <a:prstGeom prst="rect">
            <a:avLst/>
          </a:prstGeom>
          <a:noFill/>
        </p:spPr>
        <p:txBody>
          <a:bodyPr wrap="square" anchor="t" lIns="0" rIns="0" tIns="0" bIns="0">
            <a:spAutoFit/>
          </a:bodyPr>
          <a:lstStyle/>
          <a:p>
            <a:pPr algn="l">
              <a:lnSpc>
                <a:spcPct val="100000"/>
              </a:lnSpc>
              <a:spcAft>
                <a:spcPts val="0"/>
              </a:spcAft>
            </a:pPr>
            <a:r>
              <a:rPr sz="1650" b="1" i="0">
                <a:solidFill>
                  <a:srgbClr val="4B3F94"/>
                </a:solidFill>
                <a:latin typeface="Fraunces"/>
              </a:rPr>
              <a:t>How do we manage it?</a:t>
            </a:r>
          </a:p>
        </p:txBody>
      </p:sp>
      <p:sp>
        <p:nvSpPr>
          <p:cNvPr id="17" name="TextBox 16"/>
          <p:cNvSpPr txBox="1"/>
          <p:nvPr/>
        </p:nvSpPr>
        <p:spPr>
          <a:xfrm>
            <a:off x="8394191" y="4370832"/>
            <a:ext cx="2916936" cy="1463040"/>
          </a:xfrm>
          <a:prstGeom prst="rect">
            <a:avLst/>
          </a:prstGeom>
          <a:noFill/>
        </p:spPr>
        <p:txBody>
          <a:bodyPr wrap="square" anchor="t" lIns="0" rIns="0" tIns="0" bIns="0">
            <a:spAutoFit/>
          </a:bodyPr>
          <a:lstStyle/>
          <a:p>
            <a:pPr algn="l">
              <a:lnSpc>
                <a:spcPct val="130000"/>
              </a:lnSpc>
              <a:spcAft>
                <a:spcPts val="0"/>
              </a:spcAft>
            </a:pPr>
            <a:r>
              <a:rPr sz="1200" b="0" i="0">
                <a:solidFill>
                  <a:srgbClr val="625C7A"/>
                </a:solidFill>
                <a:latin typeface="IBM Plex Sans"/>
              </a:rPr>
              <a:t>An admin dashboard with search, filters, pagination, editing, and soft delete — plus public aggregate stats.</a:t>
            </a:r>
          </a:p>
        </p:txBody>
      </p:sp>
      <p:sp>
        <p:nvSpPr>
          <p:cNvPr id="18" name="TextBox 17"/>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625C7A"/>
                </a:solidFill>
                <a:latin typeface="IBM Plex Mono"/>
              </a:rPr>
              <a:t>VAULTKEEP</a:t>
            </a:r>
          </a:p>
        </p:txBody>
      </p:sp>
      <p:sp>
        <p:nvSpPr>
          <p:cNvPr id="19" name="TextBox 18"/>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625C7A"/>
                </a:solidFill>
                <a:latin typeface="IBM Plex Mon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F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STACK</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14132B"/>
                </a:solidFill>
                <a:latin typeface="Fraunces"/>
              </a:rPr>
              <a:t>Built with</a:t>
            </a:r>
          </a:p>
        </p:txBody>
      </p:sp>
      <p:sp>
        <p:nvSpPr>
          <p:cNvPr id="4" name="TextBox 3"/>
          <p:cNvSpPr txBox="1"/>
          <p:nvPr/>
        </p:nvSpPr>
        <p:spPr>
          <a:xfrm>
            <a:off x="640080" y="1691640"/>
            <a:ext cx="5029200" cy="365760"/>
          </a:xfrm>
          <a:prstGeom prst="rect">
            <a:avLst/>
          </a:prstGeom>
          <a:noFill/>
        </p:spPr>
        <p:txBody>
          <a:bodyPr wrap="square" anchor="t" lIns="0" rIns="0" tIns="0" bIns="0">
            <a:spAutoFit/>
          </a:bodyPr>
          <a:lstStyle/>
          <a:p>
            <a:pPr algn="l">
              <a:lnSpc>
                <a:spcPct val="100000"/>
              </a:lnSpc>
              <a:spcAft>
                <a:spcPts val="0"/>
              </a:spcAft>
            </a:pPr>
            <a:r>
              <a:rPr sz="1300" b="1" i="0">
                <a:solidFill>
                  <a:srgbClr val="4B3F94"/>
                </a:solidFill>
                <a:latin typeface="IBM Plex Mono"/>
              </a:rPr>
              <a:t>BACKEND</a:t>
            </a:r>
          </a:p>
        </p:txBody>
      </p:sp>
      <p:sp>
        <p:nvSpPr>
          <p:cNvPr id="5" name="TextBox 4"/>
          <p:cNvSpPr txBox="1"/>
          <p:nvPr/>
        </p:nvSpPr>
        <p:spPr>
          <a:xfrm>
            <a:off x="6309360" y="1691640"/>
            <a:ext cx="5029200" cy="365760"/>
          </a:xfrm>
          <a:prstGeom prst="rect">
            <a:avLst/>
          </a:prstGeom>
          <a:noFill/>
        </p:spPr>
        <p:txBody>
          <a:bodyPr wrap="square" anchor="t" lIns="0" rIns="0" tIns="0" bIns="0">
            <a:spAutoFit/>
          </a:bodyPr>
          <a:lstStyle/>
          <a:p>
            <a:pPr algn="l">
              <a:lnSpc>
                <a:spcPct val="100000"/>
              </a:lnSpc>
              <a:spcAft>
                <a:spcPts val="0"/>
              </a:spcAft>
            </a:pPr>
            <a:r>
              <a:rPr sz="1300" b="1" i="0">
                <a:solidFill>
                  <a:srgbClr val="C2913C"/>
                </a:solidFill>
                <a:latin typeface="IBM Plex Mono"/>
              </a:rPr>
              <a:t>FRONTEND</a:t>
            </a:r>
          </a:p>
        </p:txBody>
      </p:sp>
      <p:sp>
        <p:nvSpPr>
          <p:cNvPr id="6" name="Rounded Rectangle 5"/>
          <p:cNvSpPr/>
          <p:nvPr/>
        </p:nvSpPr>
        <p:spPr>
          <a:xfrm>
            <a:off x="640080" y="214884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2281610"/>
            <a:ext cx="337962" cy="337962"/>
          </a:xfrm>
          <a:prstGeom prst="roundRect">
            <a:avLst>
              <a:gd name="adj" fmla="val 22000"/>
            </a:avLst>
          </a:prstGeom>
          <a:solidFill>
            <a:srgbClr val="4B3F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Py</a:t>
            </a:r>
          </a:p>
        </p:txBody>
      </p:sp>
      <p:sp>
        <p:nvSpPr>
          <p:cNvPr id="8" name="TextBox 7"/>
          <p:cNvSpPr txBox="1"/>
          <p:nvPr/>
        </p:nvSpPr>
        <p:spPr>
          <a:xfrm>
            <a:off x="1288938" y="214884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FastAPI</a:t>
            </a:r>
          </a:p>
        </p:txBody>
      </p:sp>
      <p:sp>
        <p:nvSpPr>
          <p:cNvPr id="9" name="Rounded Rectangle 8"/>
          <p:cNvSpPr/>
          <p:nvPr/>
        </p:nvSpPr>
        <p:spPr>
          <a:xfrm>
            <a:off x="640080" y="288036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3013130"/>
            <a:ext cx="337962" cy="337962"/>
          </a:xfrm>
          <a:prstGeom prst="roundRect">
            <a:avLst>
              <a:gd name="adj" fmla="val 22000"/>
            </a:avLst>
          </a:prstGeom>
          <a:solidFill>
            <a:srgbClr val="4B3F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DB</a:t>
            </a:r>
          </a:p>
        </p:txBody>
      </p:sp>
      <p:sp>
        <p:nvSpPr>
          <p:cNvPr id="11" name="TextBox 10"/>
          <p:cNvSpPr txBox="1"/>
          <p:nvPr/>
        </p:nvSpPr>
        <p:spPr>
          <a:xfrm>
            <a:off x="1288938" y="288036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MongoDB + Motor</a:t>
            </a:r>
          </a:p>
        </p:txBody>
      </p:sp>
      <p:sp>
        <p:nvSpPr>
          <p:cNvPr id="12" name="Rounded Rectangle 11"/>
          <p:cNvSpPr/>
          <p:nvPr/>
        </p:nvSpPr>
        <p:spPr>
          <a:xfrm>
            <a:off x="640080" y="361188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86384" y="3744650"/>
            <a:ext cx="337962" cy="337962"/>
          </a:xfrm>
          <a:prstGeom prst="roundRect">
            <a:avLst>
              <a:gd name="adj" fmla="val 22000"/>
            </a:avLst>
          </a:prstGeom>
          <a:solidFill>
            <a:srgbClr val="4B3F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JWT</a:t>
            </a:r>
          </a:p>
        </p:txBody>
      </p:sp>
      <p:sp>
        <p:nvSpPr>
          <p:cNvPr id="14" name="TextBox 13"/>
          <p:cNvSpPr txBox="1"/>
          <p:nvPr/>
        </p:nvSpPr>
        <p:spPr>
          <a:xfrm>
            <a:off x="1288938" y="361188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JWT (python-jose)</a:t>
            </a:r>
          </a:p>
        </p:txBody>
      </p:sp>
      <p:sp>
        <p:nvSpPr>
          <p:cNvPr id="15" name="Rounded Rectangle 14"/>
          <p:cNvSpPr/>
          <p:nvPr/>
        </p:nvSpPr>
        <p:spPr>
          <a:xfrm>
            <a:off x="640080" y="434340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86384" y="4476170"/>
            <a:ext cx="337962" cy="337962"/>
          </a:xfrm>
          <a:prstGeom prst="roundRect">
            <a:avLst>
              <a:gd name="adj" fmla="val 22000"/>
            </a:avLst>
          </a:prstGeom>
          <a:solidFill>
            <a:srgbClr val="4B3F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a:t>
            </a:r>
          </a:p>
        </p:txBody>
      </p:sp>
      <p:sp>
        <p:nvSpPr>
          <p:cNvPr id="17" name="TextBox 16"/>
          <p:cNvSpPr txBox="1"/>
          <p:nvPr/>
        </p:nvSpPr>
        <p:spPr>
          <a:xfrm>
            <a:off x="1288938" y="434340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bcrypt (passlib)</a:t>
            </a:r>
          </a:p>
        </p:txBody>
      </p:sp>
      <p:sp>
        <p:nvSpPr>
          <p:cNvPr id="18" name="Rounded Rectangle 17"/>
          <p:cNvSpPr/>
          <p:nvPr/>
        </p:nvSpPr>
        <p:spPr>
          <a:xfrm>
            <a:off x="640080" y="507492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86384" y="5207690"/>
            <a:ext cx="337962" cy="337962"/>
          </a:xfrm>
          <a:prstGeom prst="roundRect">
            <a:avLst>
              <a:gd name="adj" fmla="val 22000"/>
            </a:avLst>
          </a:prstGeom>
          <a:solidFill>
            <a:srgbClr val="4B3F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Pd</a:t>
            </a:r>
          </a:p>
        </p:txBody>
      </p:sp>
      <p:sp>
        <p:nvSpPr>
          <p:cNvPr id="20" name="TextBox 19"/>
          <p:cNvSpPr txBox="1"/>
          <p:nvPr/>
        </p:nvSpPr>
        <p:spPr>
          <a:xfrm>
            <a:off x="1288938" y="507492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Pydantic v2</a:t>
            </a:r>
          </a:p>
        </p:txBody>
      </p:sp>
      <p:sp>
        <p:nvSpPr>
          <p:cNvPr id="21" name="Rounded Rectangle 20"/>
          <p:cNvSpPr/>
          <p:nvPr/>
        </p:nvSpPr>
        <p:spPr>
          <a:xfrm>
            <a:off x="640080" y="580644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86384" y="5939210"/>
            <a:ext cx="337962" cy="337962"/>
          </a:xfrm>
          <a:prstGeom prst="roundRect">
            <a:avLst>
              <a:gd name="adj" fmla="val 22000"/>
            </a:avLst>
          </a:prstGeom>
          <a:solidFill>
            <a:srgbClr val="4B3F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Ok</a:t>
            </a:r>
          </a:p>
        </p:txBody>
      </p:sp>
      <p:sp>
        <p:nvSpPr>
          <p:cNvPr id="23" name="TextBox 22"/>
          <p:cNvSpPr txBox="1"/>
          <p:nvPr/>
        </p:nvSpPr>
        <p:spPr>
          <a:xfrm>
            <a:off x="1288938" y="580644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pytest</a:t>
            </a:r>
          </a:p>
        </p:txBody>
      </p:sp>
      <p:sp>
        <p:nvSpPr>
          <p:cNvPr id="24" name="Rounded Rectangle 23"/>
          <p:cNvSpPr/>
          <p:nvPr/>
        </p:nvSpPr>
        <p:spPr>
          <a:xfrm>
            <a:off x="6309360" y="214884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55664" y="2281610"/>
            <a:ext cx="337962" cy="337962"/>
          </a:xfrm>
          <a:prstGeom prst="roundRect">
            <a:avLst>
              <a:gd name="adj" fmla="val 22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Rx</a:t>
            </a:r>
          </a:p>
        </p:txBody>
      </p:sp>
      <p:sp>
        <p:nvSpPr>
          <p:cNvPr id="26" name="TextBox 25"/>
          <p:cNvSpPr txBox="1"/>
          <p:nvPr/>
        </p:nvSpPr>
        <p:spPr>
          <a:xfrm>
            <a:off x="6958218" y="214884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React 19</a:t>
            </a:r>
          </a:p>
        </p:txBody>
      </p:sp>
      <p:sp>
        <p:nvSpPr>
          <p:cNvPr id="27" name="Rounded Rectangle 26"/>
          <p:cNvSpPr/>
          <p:nvPr/>
        </p:nvSpPr>
        <p:spPr>
          <a:xfrm>
            <a:off x="6309360" y="288036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55664" y="3013130"/>
            <a:ext cx="337962" cy="337962"/>
          </a:xfrm>
          <a:prstGeom prst="roundRect">
            <a:avLst>
              <a:gd name="adj" fmla="val 22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Vt</a:t>
            </a:r>
          </a:p>
        </p:txBody>
      </p:sp>
      <p:sp>
        <p:nvSpPr>
          <p:cNvPr id="29" name="TextBox 28"/>
          <p:cNvSpPr txBox="1"/>
          <p:nvPr/>
        </p:nvSpPr>
        <p:spPr>
          <a:xfrm>
            <a:off x="6958218" y="288036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Vite</a:t>
            </a:r>
          </a:p>
        </p:txBody>
      </p:sp>
      <p:sp>
        <p:nvSpPr>
          <p:cNvPr id="30" name="Rounded Rectangle 29"/>
          <p:cNvSpPr/>
          <p:nvPr/>
        </p:nvSpPr>
        <p:spPr>
          <a:xfrm>
            <a:off x="6309360" y="361188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55664" y="3744650"/>
            <a:ext cx="337962" cy="337962"/>
          </a:xfrm>
          <a:prstGeom prst="roundRect">
            <a:avLst>
              <a:gd name="adj" fmla="val 22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Tw</a:t>
            </a:r>
          </a:p>
        </p:txBody>
      </p:sp>
      <p:sp>
        <p:nvSpPr>
          <p:cNvPr id="32" name="TextBox 31"/>
          <p:cNvSpPr txBox="1"/>
          <p:nvPr/>
        </p:nvSpPr>
        <p:spPr>
          <a:xfrm>
            <a:off x="6958218" y="361188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Tailwind CSS v4</a:t>
            </a:r>
          </a:p>
        </p:txBody>
      </p:sp>
      <p:sp>
        <p:nvSpPr>
          <p:cNvPr id="33" name="Rounded Rectangle 32"/>
          <p:cNvSpPr/>
          <p:nvPr/>
        </p:nvSpPr>
        <p:spPr>
          <a:xfrm>
            <a:off x="6309360" y="4343400"/>
            <a:ext cx="5029200" cy="603504"/>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55664" y="4476170"/>
            <a:ext cx="337962" cy="337962"/>
          </a:xfrm>
          <a:prstGeom prst="roundRect">
            <a:avLst>
              <a:gd name="adj" fmla="val 22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960">
                <a:solidFill>
                  <a:srgbClr val="FFFFFF"/>
                </a:solidFill>
                <a:latin typeface="IBM Plex Mono"/>
              </a:rPr>
              <a:t>Rr</a:t>
            </a:r>
          </a:p>
        </p:txBody>
      </p:sp>
      <p:sp>
        <p:nvSpPr>
          <p:cNvPr id="35" name="TextBox 34"/>
          <p:cNvSpPr txBox="1"/>
          <p:nvPr/>
        </p:nvSpPr>
        <p:spPr>
          <a:xfrm>
            <a:off x="6958218" y="4343400"/>
            <a:ext cx="4234037" cy="603504"/>
          </a:xfrm>
          <a:prstGeom prst="rect">
            <a:avLst/>
          </a:prstGeom>
          <a:noFill/>
        </p:spPr>
        <p:txBody>
          <a:bodyPr wrap="square" anchor="ctr" lIns="0" rIns="0" tIns="0" bIns="0">
            <a:spAutoFit/>
          </a:bodyPr>
          <a:lstStyle/>
          <a:p>
            <a:pPr algn="l">
              <a:lnSpc>
                <a:spcPct val="100000"/>
              </a:lnSpc>
              <a:spcAft>
                <a:spcPts val="0"/>
              </a:spcAft>
            </a:pPr>
            <a:r>
              <a:rPr sz="1350" b="1" i="0">
                <a:solidFill>
                  <a:srgbClr val="14132B"/>
                </a:solidFill>
                <a:latin typeface="IBM Plex Sans"/>
              </a:rPr>
              <a:t>React Router v7</a:t>
            </a:r>
          </a:p>
        </p:txBody>
      </p:sp>
      <p:sp>
        <p:nvSpPr>
          <p:cNvPr id="36" name="TextBox 35"/>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625C7A"/>
                </a:solidFill>
                <a:latin typeface="IBM Plex Mono"/>
              </a:rPr>
              <a:t>VAULTKEEP</a:t>
            </a:r>
          </a:p>
        </p:txBody>
      </p:sp>
      <p:sp>
        <p:nvSpPr>
          <p:cNvPr id="37" name="TextBox 36"/>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625C7A"/>
                </a:solidFill>
                <a:latin typeface="IBM Plex Mon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32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ARCHITECTURE</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F6F4FB"/>
                </a:solidFill>
                <a:latin typeface="Fraunces"/>
              </a:rPr>
              <a:t>How the pieces connect</a:t>
            </a:r>
          </a:p>
        </p:txBody>
      </p:sp>
      <p:sp>
        <p:nvSpPr>
          <p:cNvPr id="4" name="Rounded Rectangle 3"/>
          <p:cNvSpPr/>
          <p:nvPr/>
        </p:nvSpPr>
        <p:spPr>
          <a:xfrm>
            <a:off x="815187" y="2788920"/>
            <a:ext cx="2880360" cy="1417320"/>
          </a:xfrm>
          <a:prstGeom prst="roundRect">
            <a:avLst>
              <a:gd name="adj" fmla="val 10000"/>
            </a:avLst>
          </a:prstGeom>
          <a:solidFill>
            <a:srgbClr val="1F1D3E"/>
          </a:solidFill>
          <a:ln w="22225">
            <a:solidFill>
              <a:srgbClr val="4B3F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5187" y="3136391"/>
            <a:ext cx="2880360" cy="457200"/>
          </a:xfrm>
          <a:prstGeom prst="rect">
            <a:avLst/>
          </a:prstGeom>
          <a:noFill/>
        </p:spPr>
        <p:txBody>
          <a:bodyPr wrap="square" anchor="t" lIns="0" rIns="0" tIns="0" bIns="0">
            <a:spAutoFit/>
          </a:bodyPr>
          <a:lstStyle/>
          <a:p>
            <a:pPr algn="ctr">
              <a:lnSpc>
                <a:spcPct val="100000"/>
              </a:lnSpc>
              <a:spcAft>
                <a:spcPts val="0"/>
              </a:spcAft>
            </a:pPr>
            <a:r>
              <a:rPr sz="1650" b="1" i="0">
                <a:solidFill>
                  <a:srgbClr val="F6F4FB"/>
                </a:solidFill>
                <a:latin typeface="Fraunces"/>
              </a:rPr>
              <a:t>React frontend</a:t>
            </a:r>
          </a:p>
        </p:txBody>
      </p:sp>
      <p:sp>
        <p:nvSpPr>
          <p:cNvPr id="6" name="TextBox 5"/>
          <p:cNvSpPr txBox="1"/>
          <p:nvPr/>
        </p:nvSpPr>
        <p:spPr>
          <a:xfrm>
            <a:off x="815187" y="3611879"/>
            <a:ext cx="2880360" cy="365760"/>
          </a:xfrm>
          <a:prstGeom prst="rect">
            <a:avLst/>
          </a:prstGeom>
          <a:noFill/>
        </p:spPr>
        <p:txBody>
          <a:bodyPr wrap="square" anchor="t" lIns="0" rIns="0" tIns="0" bIns="0">
            <a:spAutoFit/>
          </a:bodyPr>
          <a:lstStyle/>
          <a:p>
            <a:pPr algn="ctr">
              <a:lnSpc>
                <a:spcPct val="100000"/>
              </a:lnSpc>
              <a:spcAft>
                <a:spcPts val="0"/>
              </a:spcAft>
            </a:pPr>
            <a:r>
              <a:rPr sz="1200" b="1" i="0">
                <a:solidFill>
                  <a:srgbClr val="4B3F94"/>
                </a:solidFill>
                <a:latin typeface="IBM Plex Mono"/>
              </a:rPr>
              <a:t>Vercel</a:t>
            </a:r>
          </a:p>
        </p:txBody>
      </p:sp>
      <p:sp>
        <p:nvSpPr>
          <p:cNvPr id="7" name="Rounded Rectangle 6"/>
          <p:cNvSpPr/>
          <p:nvPr/>
        </p:nvSpPr>
        <p:spPr>
          <a:xfrm>
            <a:off x="4655667" y="2788920"/>
            <a:ext cx="2880360" cy="1417320"/>
          </a:xfrm>
          <a:prstGeom prst="roundRect">
            <a:avLst>
              <a:gd name="adj" fmla="val 10000"/>
            </a:avLst>
          </a:prstGeom>
          <a:solidFill>
            <a:srgbClr val="1F1D3E"/>
          </a:solidFill>
          <a:ln w="22225">
            <a:solidFill>
              <a:srgbClr val="C29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5667" y="3136391"/>
            <a:ext cx="2880360" cy="457200"/>
          </a:xfrm>
          <a:prstGeom prst="rect">
            <a:avLst/>
          </a:prstGeom>
          <a:noFill/>
        </p:spPr>
        <p:txBody>
          <a:bodyPr wrap="square" anchor="t" lIns="0" rIns="0" tIns="0" bIns="0">
            <a:spAutoFit/>
          </a:bodyPr>
          <a:lstStyle/>
          <a:p>
            <a:pPr algn="ctr">
              <a:lnSpc>
                <a:spcPct val="100000"/>
              </a:lnSpc>
              <a:spcAft>
                <a:spcPts val="0"/>
              </a:spcAft>
            </a:pPr>
            <a:r>
              <a:rPr sz="1650" b="1" i="0">
                <a:solidFill>
                  <a:srgbClr val="F6F4FB"/>
                </a:solidFill>
                <a:latin typeface="Fraunces"/>
              </a:rPr>
              <a:t>FastAPI backend</a:t>
            </a:r>
          </a:p>
        </p:txBody>
      </p:sp>
      <p:sp>
        <p:nvSpPr>
          <p:cNvPr id="9" name="TextBox 8"/>
          <p:cNvSpPr txBox="1"/>
          <p:nvPr/>
        </p:nvSpPr>
        <p:spPr>
          <a:xfrm>
            <a:off x="4655667" y="3611879"/>
            <a:ext cx="2880360" cy="365760"/>
          </a:xfrm>
          <a:prstGeom prst="rect">
            <a:avLst/>
          </a:prstGeom>
          <a:noFill/>
        </p:spPr>
        <p:txBody>
          <a:bodyPr wrap="square" anchor="t" lIns="0" rIns="0" tIns="0" bIns="0">
            <a:spAutoFit/>
          </a:bodyPr>
          <a:lstStyle/>
          <a:p>
            <a:pPr algn="ctr">
              <a:lnSpc>
                <a:spcPct val="100000"/>
              </a:lnSpc>
              <a:spcAft>
                <a:spcPts val="0"/>
              </a:spcAft>
            </a:pPr>
            <a:r>
              <a:rPr sz="1200" b="1" i="0">
                <a:solidFill>
                  <a:srgbClr val="C2913C"/>
                </a:solidFill>
                <a:latin typeface="IBM Plex Mono"/>
              </a:rPr>
              <a:t>Render</a:t>
            </a:r>
          </a:p>
        </p:txBody>
      </p:sp>
      <p:sp>
        <p:nvSpPr>
          <p:cNvPr id="10" name="Rounded Rectangle 9"/>
          <p:cNvSpPr/>
          <p:nvPr/>
        </p:nvSpPr>
        <p:spPr>
          <a:xfrm>
            <a:off x="8496147" y="2788920"/>
            <a:ext cx="2880360" cy="1417320"/>
          </a:xfrm>
          <a:prstGeom prst="roundRect">
            <a:avLst>
              <a:gd name="adj" fmla="val 10000"/>
            </a:avLst>
          </a:prstGeom>
          <a:solidFill>
            <a:srgbClr val="1F1D3E"/>
          </a:solidFill>
          <a:ln w="22225">
            <a:solidFill>
              <a:srgbClr val="2E8B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96147" y="3136391"/>
            <a:ext cx="2880360" cy="457200"/>
          </a:xfrm>
          <a:prstGeom prst="rect">
            <a:avLst/>
          </a:prstGeom>
          <a:noFill/>
        </p:spPr>
        <p:txBody>
          <a:bodyPr wrap="square" anchor="t" lIns="0" rIns="0" tIns="0" bIns="0">
            <a:spAutoFit/>
          </a:bodyPr>
          <a:lstStyle/>
          <a:p>
            <a:pPr algn="ctr">
              <a:lnSpc>
                <a:spcPct val="100000"/>
              </a:lnSpc>
              <a:spcAft>
                <a:spcPts val="0"/>
              </a:spcAft>
            </a:pPr>
            <a:r>
              <a:rPr sz="1650" b="1" i="0">
                <a:solidFill>
                  <a:srgbClr val="F6F4FB"/>
                </a:solidFill>
                <a:latin typeface="Fraunces"/>
              </a:rPr>
              <a:t>MongoDB Atlas</a:t>
            </a:r>
          </a:p>
        </p:txBody>
      </p:sp>
      <p:sp>
        <p:nvSpPr>
          <p:cNvPr id="12" name="TextBox 11"/>
          <p:cNvSpPr txBox="1"/>
          <p:nvPr/>
        </p:nvSpPr>
        <p:spPr>
          <a:xfrm>
            <a:off x="8496147" y="3611879"/>
            <a:ext cx="2880360" cy="365760"/>
          </a:xfrm>
          <a:prstGeom prst="rect">
            <a:avLst/>
          </a:prstGeom>
          <a:noFill/>
        </p:spPr>
        <p:txBody>
          <a:bodyPr wrap="square" anchor="t" lIns="0" rIns="0" tIns="0" bIns="0">
            <a:spAutoFit/>
          </a:bodyPr>
          <a:lstStyle/>
          <a:p>
            <a:pPr algn="ctr">
              <a:lnSpc>
                <a:spcPct val="100000"/>
              </a:lnSpc>
              <a:spcAft>
                <a:spcPts val="0"/>
              </a:spcAft>
            </a:pPr>
            <a:r>
              <a:rPr sz="1200" b="1" i="0">
                <a:solidFill>
                  <a:srgbClr val="2E8B6F"/>
                </a:solidFill>
                <a:latin typeface="IBM Plex Mono"/>
              </a:rPr>
              <a:t>Database</a:t>
            </a:r>
          </a:p>
        </p:txBody>
      </p:sp>
      <p:sp>
        <p:nvSpPr>
          <p:cNvPr id="13" name="Right Arrow 12"/>
          <p:cNvSpPr/>
          <p:nvPr/>
        </p:nvSpPr>
        <p:spPr>
          <a:xfrm>
            <a:off x="3768699" y="3396996"/>
            <a:ext cx="813815" cy="201168"/>
          </a:xfrm>
          <a:prstGeom prst="rightArrow">
            <a:avLst/>
          </a:prstGeom>
          <a:solidFill>
            <a:srgbClr val="E4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95547" y="2221991"/>
            <a:ext cx="960119" cy="502920"/>
          </a:xfrm>
          <a:prstGeom prst="rect">
            <a:avLst/>
          </a:prstGeom>
          <a:noFill/>
        </p:spPr>
        <p:txBody>
          <a:bodyPr wrap="square" anchor="t" lIns="0" rIns="0" tIns="0" bIns="0">
            <a:spAutoFit/>
          </a:bodyPr>
          <a:lstStyle/>
          <a:p>
            <a:pPr algn="ctr">
              <a:lnSpc>
                <a:spcPct val="105000"/>
              </a:lnSpc>
              <a:spcAft>
                <a:spcPts val="0"/>
              </a:spcAft>
            </a:pPr>
            <a:r>
              <a:rPr sz="1050" b="0" i="0">
                <a:solidFill>
                  <a:srgbClr val="C7C2DE"/>
                </a:solidFill>
                <a:latin typeface="IBM Plex Sans"/>
              </a:rPr>
              <a:t>HTTPS + JSON</a:t>
            </a:r>
          </a:p>
          <a:p>
            <a:pPr algn="ctr">
              <a:lnSpc>
                <a:spcPct val="105000"/>
              </a:lnSpc>
              <a:spcAft>
                <a:spcPts val="0"/>
              </a:spcAft>
            </a:pPr>
            <a:r>
              <a:rPr sz="1050" b="0" i="0">
                <a:solidFill>
                  <a:srgbClr val="C7C2DE"/>
                </a:solidFill>
                <a:latin typeface="IBM Plex Sans"/>
              </a:rPr>
              <a:t>bearer JWT</a:t>
            </a:r>
          </a:p>
        </p:txBody>
      </p:sp>
      <p:sp>
        <p:nvSpPr>
          <p:cNvPr id="15" name="Right Arrow 14"/>
          <p:cNvSpPr/>
          <p:nvPr/>
        </p:nvSpPr>
        <p:spPr>
          <a:xfrm>
            <a:off x="7609179" y="3396996"/>
            <a:ext cx="813816" cy="201168"/>
          </a:xfrm>
          <a:prstGeom prst="rightArrow">
            <a:avLst/>
          </a:prstGeom>
          <a:solidFill>
            <a:srgbClr val="E4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36027" y="2221991"/>
            <a:ext cx="960120" cy="502920"/>
          </a:xfrm>
          <a:prstGeom prst="rect">
            <a:avLst/>
          </a:prstGeom>
          <a:noFill/>
        </p:spPr>
        <p:txBody>
          <a:bodyPr wrap="square" anchor="t" lIns="0" rIns="0" tIns="0" bIns="0">
            <a:spAutoFit/>
          </a:bodyPr>
          <a:lstStyle/>
          <a:p>
            <a:pPr algn="ctr">
              <a:lnSpc>
                <a:spcPct val="105000"/>
              </a:lnSpc>
              <a:spcAft>
                <a:spcPts val="0"/>
              </a:spcAft>
            </a:pPr>
            <a:r>
              <a:rPr sz="1050" b="0" i="0">
                <a:solidFill>
                  <a:srgbClr val="C7C2DE"/>
                </a:solidFill>
                <a:latin typeface="IBM Plex Sans"/>
              </a:rPr>
              <a:t>Motor (async)</a:t>
            </a:r>
          </a:p>
          <a:p>
            <a:pPr algn="ctr">
              <a:lnSpc>
                <a:spcPct val="105000"/>
              </a:lnSpc>
              <a:spcAft>
                <a:spcPts val="0"/>
              </a:spcAft>
            </a:pPr>
            <a:r>
              <a:rPr sz="1050" b="0" i="0">
                <a:solidFill>
                  <a:srgbClr val="C7C2DE"/>
                </a:solidFill>
                <a:latin typeface="IBM Plex Sans"/>
              </a:rPr>
              <a:t>queries</a:t>
            </a:r>
          </a:p>
        </p:txBody>
      </p:sp>
      <p:sp>
        <p:nvSpPr>
          <p:cNvPr id="17" name="TextBox 16"/>
          <p:cNvSpPr txBox="1"/>
          <p:nvPr/>
        </p:nvSpPr>
        <p:spPr>
          <a:xfrm>
            <a:off x="1280160" y="4892040"/>
            <a:ext cx="9631375" cy="822960"/>
          </a:xfrm>
          <a:prstGeom prst="rect">
            <a:avLst/>
          </a:prstGeom>
          <a:noFill/>
        </p:spPr>
        <p:txBody>
          <a:bodyPr wrap="square" anchor="t" lIns="0" rIns="0" tIns="0" bIns="0">
            <a:spAutoFit/>
          </a:bodyPr>
          <a:lstStyle/>
          <a:p>
            <a:pPr algn="ctr">
              <a:lnSpc>
                <a:spcPct val="135000"/>
              </a:lnSpc>
              <a:spcAft>
                <a:spcPts val="0"/>
              </a:spcAft>
            </a:pPr>
            <a:r>
              <a:rPr sz="1350" b="0" i="0">
                <a:solidFill>
                  <a:srgbClr val="C7C2DE"/>
                </a:solidFill>
                <a:latin typeface="IBM Plex Sans"/>
              </a:rPr>
              <a:t>Deployed independently — frontend on Vercel, backend on Render, database on MongoDB Atlas — connected by a versioned REST API secured with bearer JWTs and locked down with an explicit CORS allow-list.</a:t>
            </a:r>
          </a:p>
        </p:txBody>
      </p:sp>
      <p:sp>
        <p:nvSpPr>
          <p:cNvPr id="18" name="TextBox 17"/>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9A93B8"/>
                </a:solidFill>
                <a:latin typeface="IBM Plex Mono"/>
              </a:rPr>
              <a:t>VAULTKEEP</a:t>
            </a:r>
          </a:p>
        </p:txBody>
      </p:sp>
      <p:sp>
        <p:nvSpPr>
          <p:cNvPr id="19" name="TextBox 18"/>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9A93B8"/>
                </a:solidFill>
                <a:latin typeface="IBM Plex Mon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F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FEATURES</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14132B"/>
                </a:solidFill>
                <a:latin typeface="Fraunces"/>
              </a:rPr>
              <a:t>Core features</a:t>
            </a:r>
          </a:p>
        </p:txBody>
      </p:sp>
      <p:sp>
        <p:nvSpPr>
          <p:cNvPr id="4" name="TextBox 3"/>
          <p:cNvSpPr txBox="1"/>
          <p:nvPr/>
        </p:nvSpPr>
        <p:spPr>
          <a:xfrm>
            <a:off x="640080" y="1691640"/>
            <a:ext cx="5257800" cy="6858000"/>
          </a:xfrm>
          <a:prstGeom prst="rect">
            <a:avLst/>
          </a:prstGeom>
          <a:noFill/>
        </p:spPr>
        <p:txBody>
          <a:bodyPr wrap="square" anchor="t" lIns="0" rIns="0" tIns="0" bIns="0">
            <a:spAutoFit/>
          </a:bodyPr>
          <a:lstStyle/>
          <a:p>
            <a:pPr algn="l">
              <a:lnSpc>
                <a:spcPct val="120000"/>
              </a:lnSpc>
              <a:spcAft>
                <a:spcPts val="1600"/>
              </a:spcAft>
            </a:pPr>
            <a:r>
              <a:rPr sz="1300" b="1" i="0">
                <a:solidFill>
                  <a:srgbClr val="C2913C"/>
                </a:solidFill>
                <a:latin typeface="IBM Plex Mono"/>
              </a:rPr>
              <a:t>—  </a:t>
            </a:r>
            <a:r>
              <a:rPr sz="1300" b="1" i="0">
                <a:solidFill>
                  <a:srgbClr val="14132B"/>
                </a:solidFill>
                <a:latin typeface="IBM Plex Sans"/>
              </a:rPr>
              <a:t>Self-service registration</a:t>
            </a:r>
            <a:r>
              <a:rPr sz="1300" b="0" i="0">
                <a:solidFill>
                  <a:srgbClr val="625C7A"/>
                </a:solidFill>
                <a:latin typeface="IBM Plex Sans"/>
              </a:rPr>
              <a:t>POST /register — unique email enforced at the database level, not just in application code.</a:t>
            </a:r>
          </a:p>
          <a:p>
            <a:pPr algn="l">
              <a:lnSpc>
                <a:spcPct val="120000"/>
              </a:lnSpc>
              <a:spcAft>
                <a:spcPts val="1600"/>
              </a:spcAft>
            </a:pPr>
            <a:r>
              <a:rPr sz="1300" b="1" i="0">
                <a:solidFill>
                  <a:srgbClr val="C2913C"/>
                </a:solidFill>
                <a:latin typeface="IBM Plex Mono"/>
              </a:rPr>
              <a:t>—  </a:t>
            </a:r>
            <a:r>
              <a:rPr sz="1300" b="1" i="0">
                <a:solidFill>
                  <a:srgbClr val="14132B"/>
                </a:solidFill>
                <a:latin typeface="IBM Plex Sans"/>
              </a:rPr>
              <a:t>JWT login</a:t>
            </a:r>
            <a:r>
              <a:rPr sz="1300" b="0" i="0">
                <a:solidFill>
                  <a:srgbClr val="625C7A"/>
                </a:solidFill>
                <a:latin typeface="IBM Plex Sans"/>
              </a:rPr>
              <a:t>POST /login — HS256 tokens carrying the user's id and role; wrong password, unknown email, and a deleted account all return the same generic 401.</a:t>
            </a:r>
          </a:p>
          <a:p>
            <a:pPr algn="l">
              <a:lnSpc>
                <a:spcPct val="120000"/>
              </a:lnSpc>
              <a:spcAft>
                <a:spcPts val="1600"/>
              </a:spcAft>
            </a:pPr>
            <a:r>
              <a:rPr sz="1300" b="1" i="0">
                <a:solidFill>
                  <a:srgbClr val="C2913C"/>
                </a:solidFill>
                <a:latin typeface="IBM Plex Mono"/>
              </a:rPr>
              <a:t>—  </a:t>
            </a:r>
            <a:r>
              <a:rPr sz="1300" b="1" i="0">
                <a:solidFill>
                  <a:srgbClr val="14132B"/>
                </a:solidFill>
                <a:latin typeface="IBM Plex Sans"/>
              </a:rPr>
              <a:t>Role-based access</a:t>
            </a:r>
            <a:r>
              <a:rPr sz="1300" b="0" i="0">
                <a:solidFill>
                  <a:srgbClr val="625C7A"/>
                </a:solidFill>
                <a:latin typeface="IBM Plex Sans"/>
              </a:rPr>
              <a:t>Client vs. admin, enforced server-side by FastAPI dependencies (get_current_user / require_admin) — never trusted from the client.</a:t>
            </a:r>
          </a:p>
          <a:p>
            <a:pPr algn="l">
              <a:lnSpc>
                <a:spcPct val="120000"/>
              </a:lnSpc>
              <a:spcAft>
                <a:spcPts val="1600"/>
              </a:spcAft>
            </a:pPr>
            <a:r>
              <a:rPr sz="1300" b="1" i="0">
                <a:solidFill>
                  <a:srgbClr val="C2913C"/>
                </a:solidFill>
                <a:latin typeface="IBM Plex Mono"/>
              </a:rPr>
              <a:t>—  </a:t>
            </a:r>
            <a:r>
              <a:rPr sz="1300" b="1" i="0">
                <a:solidFill>
                  <a:srgbClr val="14132B"/>
                </a:solidFill>
                <a:latin typeface="IBM Plex Sans"/>
              </a:rPr>
              <a:t>Profile management</a:t>
            </a:r>
            <a:r>
              <a:rPr sz="1300" b="0" i="0">
                <a:solidFill>
                  <a:srgbClr val="625C7A"/>
                </a:solidFill>
                <a:latin typeface="IBM Plex Sans"/>
              </a:rPr>
              <a:t>GET/PUT /users/me — a client can never grant themself admin; the update schema has no type field to submit one.</a:t>
            </a:r>
          </a:p>
        </p:txBody>
      </p:sp>
      <p:sp>
        <p:nvSpPr>
          <p:cNvPr id="5" name="TextBox 4"/>
          <p:cNvSpPr txBox="1"/>
          <p:nvPr/>
        </p:nvSpPr>
        <p:spPr>
          <a:xfrm>
            <a:off x="6263640" y="1691640"/>
            <a:ext cx="5257800" cy="6858000"/>
          </a:xfrm>
          <a:prstGeom prst="rect">
            <a:avLst/>
          </a:prstGeom>
          <a:noFill/>
        </p:spPr>
        <p:txBody>
          <a:bodyPr wrap="square" anchor="t" lIns="0" rIns="0" tIns="0" bIns="0">
            <a:spAutoFit/>
          </a:bodyPr>
          <a:lstStyle/>
          <a:p>
            <a:pPr algn="l">
              <a:lnSpc>
                <a:spcPct val="120000"/>
              </a:lnSpc>
              <a:spcAft>
                <a:spcPts val="1600"/>
              </a:spcAft>
            </a:pPr>
            <a:r>
              <a:rPr sz="1300" b="1" i="0">
                <a:solidFill>
                  <a:srgbClr val="C2913C"/>
                </a:solidFill>
                <a:latin typeface="IBM Plex Mono"/>
              </a:rPr>
              <a:t>—  </a:t>
            </a:r>
            <a:r>
              <a:rPr sz="1300" b="1" i="0">
                <a:solidFill>
                  <a:srgbClr val="14132B"/>
                </a:solidFill>
                <a:latin typeface="IBM Plex Sans"/>
              </a:rPr>
              <a:t>Soft delete</a:t>
            </a:r>
            <a:r>
              <a:rPr sz="1300" b="0" i="0">
                <a:solidFill>
                  <a:srgbClr val="625C7A"/>
                </a:solidFill>
                <a:latin typeface="IBM Plex Sans"/>
              </a:rPr>
              <a:t>DELETE /users/{id} sets is_deleted rather than removing the record — honored consistently by listing, login, and lookup.</a:t>
            </a:r>
          </a:p>
          <a:p>
            <a:pPr algn="l">
              <a:lnSpc>
                <a:spcPct val="120000"/>
              </a:lnSpc>
              <a:spcAft>
                <a:spcPts val="1600"/>
              </a:spcAft>
            </a:pPr>
            <a:r>
              <a:rPr sz="1300" b="1" i="0">
                <a:solidFill>
                  <a:srgbClr val="C2913C"/>
                </a:solidFill>
                <a:latin typeface="IBM Plex Mono"/>
              </a:rPr>
              <a:t>—  </a:t>
            </a:r>
            <a:r>
              <a:rPr sz="1300" b="1" i="0">
                <a:solidFill>
                  <a:srgbClr val="14132B"/>
                </a:solidFill>
                <a:latin typeface="IBM Plex Sans"/>
              </a:rPr>
              <a:t>Pagination + filtering</a:t>
            </a:r>
            <a:r>
              <a:rPr sz="1300" b="0" i="0">
                <a:solidFill>
                  <a:srgbClr val="625C7A"/>
                </a:solidFill>
                <a:latin typeface="IBM Plex Sans"/>
              </a:rPr>
              <a:t>GET /users — page/limit plus combinable, case-insensitive partial matches on city, name, email, and account type.</a:t>
            </a:r>
          </a:p>
          <a:p>
            <a:pPr algn="l">
              <a:lnSpc>
                <a:spcPct val="120000"/>
              </a:lnSpc>
              <a:spcAft>
                <a:spcPts val="1600"/>
              </a:spcAft>
            </a:pPr>
            <a:r>
              <a:rPr sz="1300" b="1" i="0">
                <a:solidFill>
                  <a:srgbClr val="C2913C"/>
                </a:solidFill>
                <a:latin typeface="IBM Plex Mono"/>
              </a:rPr>
              <a:t>—  </a:t>
            </a:r>
            <a:r>
              <a:rPr sz="1300" b="1" i="0">
                <a:solidFill>
                  <a:srgbClr val="14132B"/>
                </a:solidFill>
                <a:latin typeface="IBM Plex Sans"/>
              </a:rPr>
              <a:t>Public stats</a:t>
            </a:r>
            <a:r>
              <a:rPr sz="1300" b="0" i="0">
                <a:solidFill>
                  <a:srgbClr val="625C7A"/>
                </a:solidFill>
                <a:latin typeface="IBM Plex Sans"/>
              </a:rPr>
              <a:t>/stats/count, /stats/average-age, /stats/top-cities — no auth required, aggregate figures only, deleted users always excluded.</a:t>
            </a:r>
          </a:p>
        </p:txBody>
      </p:sp>
      <p:sp>
        <p:nvSpPr>
          <p:cNvPr id="6" name="TextBox 5"/>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625C7A"/>
                </a:solidFill>
                <a:latin typeface="IBM Plex Mono"/>
              </a:rPr>
              <a:t>VAULTKEEP</a:t>
            </a:r>
          </a:p>
        </p:txBody>
      </p:sp>
      <p:sp>
        <p:nvSpPr>
          <p:cNvPr id="7" name="TextBox 6"/>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625C7A"/>
                </a:solidFill>
                <a:latin typeface="IBM Plex Mon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F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FLAGSHIP FEATURE</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14132B"/>
                </a:solidFill>
                <a:latin typeface="Fraunces"/>
              </a:rPr>
              <a:t>The admin dashboard</a:t>
            </a:r>
          </a:p>
        </p:txBody>
      </p:sp>
      <p:sp>
        <p:nvSpPr>
          <p:cNvPr id="4" name="TextBox 3"/>
          <p:cNvSpPr txBox="1"/>
          <p:nvPr/>
        </p:nvSpPr>
        <p:spPr>
          <a:xfrm>
            <a:off x="640080" y="1554480"/>
            <a:ext cx="10881360" cy="548640"/>
          </a:xfrm>
          <a:prstGeom prst="rect">
            <a:avLst/>
          </a:prstGeom>
          <a:noFill/>
        </p:spPr>
        <p:txBody>
          <a:bodyPr wrap="square" anchor="t" lIns="0" rIns="0" tIns="0" bIns="0">
            <a:spAutoFit/>
          </a:bodyPr>
          <a:lstStyle/>
          <a:p>
            <a:pPr algn="l">
              <a:lnSpc>
                <a:spcPct val="130000"/>
              </a:lnSpc>
              <a:spcAft>
                <a:spcPts val="0"/>
              </a:spcAft>
            </a:pPr>
            <a:r>
              <a:rPr sz="1400" b="0" i="0">
                <a:solidFill>
                  <a:srgbClr val="625C7A"/>
                </a:solidFill>
                <a:latin typeface="IBM Plex Sans"/>
              </a:rPr>
              <a:t>Everything an admin needs to run the user base day to day, in one sidebar-nav workspace distinct from the public marketing site.</a:t>
            </a:r>
          </a:p>
        </p:txBody>
      </p:sp>
      <p:sp>
        <p:nvSpPr>
          <p:cNvPr id="5" name="Rounded Rectangle 4"/>
          <p:cNvSpPr/>
          <p:nvPr/>
        </p:nvSpPr>
        <p:spPr>
          <a:xfrm>
            <a:off x="640080" y="2423160"/>
            <a:ext cx="2834640" cy="1234440"/>
          </a:xfrm>
          <a:prstGeom prst="roundRect">
            <a:avLst>
              <a:gd name="adj" fmla="val 10000"/>
            </a:avLst>
          </a:prstGeom>
          <a:solidFill>
            <a:srgbClr val="14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578608"/>
            <a:ext cx="2395728" cy="640080"/>
          </a:xfrm>
          <a:prstGeom prst="rect">
            <a:avLst/>
          </a:prstGeom>
          <a:noFill/>
        </p:spPr>
        <p:txBody>
          <a:bodyPr wrap="square" anchor="t" lIns="0" rIns="0" tIns="0" bIns="0">
            <a:spAutoFit/>
          </a:bodyPr>
          <a:lstStyle/>
          <a:p>
            <a:pPr algn="l">
              <a:lnSpc>
                <a:spcPct val="100000"/>
              </a:lnSpc>
              <a:spcAft>
                <a:spcPts val="0"/>
              </a:spcAft>
            </a:pPr>
            <a:r>
              <a:rPr sz="3000" b="1" i="0">
                <a:solidFill>
                  <a:srgbClr val="C2913C"/>
                </a:solidFill>
                <a:latin typeface="IBM Plex Mono"/>
              </a:rPr>
              <a:t>12</a:t>
            </a:r>
          </a:p>
        </p:txBody>
      </p:sp>
      <p:sp>
        <p:nvSpPr>
          <p:cNvPr id="7" name="TextBox 6"/>
          <p:cNvSpPr txBox="1"/>
          <p:nvPr/>
        </p:nvSpPr>
        <p:spPr>
          <a:xfrm>
            <a:off x="859536" y="3246120"/>
            <a:ext cx="2395728" cy="320040"/>
          </a:xfrm>
          <a:prstGeom prst="rect">
            <a:avLst/>
          </a:prstGeom>
          <a:noFill/>
        </p:spPr>
        <p:txBody>
          <a:bodyPr wrap="square" anchor="t" lIns="0" rIns="0" tIns="0" bIns="0">
            <a:spAutoFit/>
          </a:bodyPr>
          <a:lstStyle/>
          <a:p>
            <a:pPr algn="l">
              <a:lnSpc>
                <a:spcPct val="100000"/>
              </a:lnSpc>
              <a:spcAft>
                <a:spcPts val="0"/>
              </a:spcAft>
            </a:pPr>
            <a:r>
              <a:rPr sz="1100" b="0" i="0">
                <a:solidFill>
                  <a:srgbClr val="C7C2DE"/>
                </a:solidFill>
                <a:latin typeface="IBM Plex Sans"/>
              </a:rPr>
              <a:t>active users</a:t>
            </a:r>
          </a:p>
        </p:txBody>
      </p:sp>
      <p:sp>
        <p:nvSpPr>
          <p:cNvPr id="8" name="Rounded Rectangle 7"/>
          <p:cNvSpPr/>
          <p:nvPr/>
        </p:nvSpPr>
        <p:spPr>
          <a:xfrm>
            <a:off x="3730752" y="2423160"/>
            <a:ext cx="2834640" cy="1234440"/>
          </a:xfrm>
          <a:prstGeom prst="roundRect">
            <a:avLst>
              <a:gd name="adj" fmla="val 10000"/>
            </a:avLst>
          </a:prstGeom>
          <a:solidFill>
            <a:srgbClr val="14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50208" y="2578608"/>
            <a:ext cx="2395728" cy="640080"/>
          </a:xfrm>
          <a:prstGeom prst="rect">
            <a:avLst/>
          </a:prstGeom>
          <a:noFill/>
        </p:spPr>
        <p:txBody>
          <a:bodyPr wrap="square" anchor="t" lIns="0" rIns="0" tIns="0" bIns="0">
            <a:spAutoFit/>
          </a:bodyPr>
          <a:lstStyle/>
          <a:p>
            <a:pPr algn="l">
              <a:lnSpc>
                <a:spcPct val="100000"/>
              </a:lnSpc>
              <a:spcAft>
                <a:spcPts val="0"/>
              </a:spcAft>
            </a:pPr>
            <a:r>
              <a:rPr sz="3000" b="1" i="0">
                <a:solidFill>
                  <a:srgbClr val="C2913C"/>
                </a:solidFill>
                <a:latin typeface="IBM Plex Mono"/>
              </a:rPr>
              <a:t>38.1</a:t>
            </a:r>
          </a:p>
        </p:txBody>
      </p:sp>
      <p:sp>
        <p:nvSpPr>
          <p:cNvPr id="10" name="TextBox 9"/>
          <p:cNvSpPr txBox="1"/>
          <p:nvPr/>
        </p:nvSpPr>
        <p:spPr>
          <a:xfrm>
            <a:off x="3950208" y="3246120"/>
            <a:ext cx="2395728" cy="320040"/>
          </a:xfrm>
          <a:prstGeom prst="rect">
            <a:avLst/>
          </a:prstGeom>
          <a:noFill/>
        </p:spPr>
        <p:txBody>
          <a:bodyPr wrap="square" anchor="t" lIns="0" rIns="0" tIns="0" bIns="0">
            <a:spAutoFit/>
          </a:bodyPr>
          <a:lstStyle/>
          <a:p>
            <a:pPr algn="l">
              <a:lnSpc>
                <a:spcPct val="100000"/>
              </a:lnSpc>
              <a:spcAft>
                <a:spcPts val="0"/>
              </a:spcAft>
            </a:pPr>
            <a:r>
              <a:rPr sz="1100" b="0" i="0">
                <a:solidFill>
                  <a:srgbClr val="C7C2DE"/>
                </a:solidFill>
                <a:latin typeface="IBM Plex Sans"/>
              </a:rPr>
              <a:t>average age</a:t>
            </a:r>
          </a:p>
        </p:txBody>
      </p:sp>
      <p:sp>
        <p:nvSpPr>
          <p:cNvPr id="11" name="Rounded Rectangle 10"/>
          <p:cNvSpPr/>
          <p:nvPr/>
        </p:nvSpPr>
        <p:spPr>
          <a:xfrm>
            <a:off x="6821424" y="2423160"/>
            <a:ext cx="2834640" cy="1234440"/>
          </a:xfrm>
          <a:prstGeom prst="roundRect">
            <a:avLst>
              <a:gd name="adj" fmla="val 10000"/>
            </a:avLst>
          </a:prstGeom>
          <a:solidFill>
            <a:srgbClr val="14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2578608"/>
            <a:ext cx="2395728" cy="640080"/>
          </a:xfrm>
          <a:prstGeom prst="rect">
            <a:avLst/>
          </a:prstGeom>
          <a:noFill/>
        </p:spPr>
        <p:txBody>
          <a:bodyPr wrap="square" anchor="t" lIns="0" rIns="0" tIns="0" bIns="0">
            <a:spAutoFit/>
          </a:bodyPr>
          <a:lstStyle/>
          <a:p>
            <a:pPr algn="l">
              <a:lnSpc>
                <a:spcPct val="100000"/>
              </a:lnSpc>
              <a:spcAft>
                <a:spcPts val="0"/>
              </a:spcAft>
            </a:pPr>
            <a:r>
              <a:rPr sz="3000" b="1" i="0">
                <a:solidFill>
                  <a:srgbClr val="C2913C"/>
                </a:solidFill>
                <a:latin typeface="IBM Plex Mono"/>
              </a:rPr>
              <a:t>5</a:t>
            </a:r>
          </a:p>
        </p:txBody>
      </p:sp>
      <p:sp>
        <p:nvSpPr>
          <p:cNvPr id="13" name="TextBox 12"/>
          <p:cNvSpPr txBox="1"/>
          <p:nvPr/>
        </p:nvSpPr>
        <p:spPr>
          <a:xfrm>
            <a:off x="7040880" y="3246120"/>
            <a:ext cx="2395728" cy="320040"/>
          </a:xfrm>
          <a:prstGeom prst="rect">
            <a:avLst/>
          </a:prstGeom>
          <a:noFill/>
        </p:spPr>
        <p:txBody>
          <a:bodyPr wrap="square" anchor="t" lIns="0" rIns="0" tIns="0" bIns="0">
            <a:spAutoFit/>
          </a:bodyPr>
          <a:lstStyle/>
          <a:p>
            <a:pPr algn="l">
              <a:lnSpc>
                <a:spcPct val="100000"/>
              </a:lnSpc>
              <a:spcAft>
                <a:spcPts val="0"/>
              </a:spcAft>
            </a:pPr>
            <a:r>
              <a:rPr sz="1100" b="0" i="0">
                <a:solidFill>
                  <a:srgbClr val="C7C2DE"/>
                </a:solidFill>
                <a:latin typeface="IBM Plex Sans"/>
              </a:rPr>
              <a:t>cities tracked</a:t>
            </a:r>
          </a:p>
        </p:txBody>
      </p:sp>
      <p:sp>
        <p:nvSpPr>
          <p:cNvPr id="14" name="TextBox 13"/>
          <p:cNvSpPr txBox="1"/>
          <p:nvPr/>
        </p:nvSpPr>
        <p:spPr>
          <a:xfrm>
            <a:off x="9464040" y="2423160"/>
            <a:ext cx="2103120" cy="1234440"/>
          </a:xfrm>
          <a:prstGeom prst="rect">
            <a:avLst/>
          </a:prstGeom>
          <a:noFill/>
        </p:spPr>
        <p:txBody>
          <a:bodyPr wrap="square" anchor="t" lIns="0" rIns="0" tIns="0" bIns="0">
            <a:spAutoFit/>
          </a:bodyPr>
          <a:lstStyle/>
          <a:p>
            <a:pPr algn="l">
              <a:lnSpc>
                <a:spcPct val="120000"/>
              </a:lnSpc>
              <a:spcAft>
                <a:spcPts val="0"/>
              </a:spcAft>
            </a:pPr>
            <a:r>
              <a:rPr sz="1050" b="0" i="0">
                <a:solidFill>
                  <a:srgbClr val="625C7A"/>
                </a:solidFill>
                <a:latin typeface="IBM Plex Mono"/>
              </a:rPr>
              <a:t>live from
/stats/*</a:t>
            </a:r>
          </a:p>
        </p:txBody>
      </p:sp>
      <p:sp>
        <p:nvSpPr>
          <p:cNvPr id="15" name="TextBox 14"/>
          <p:cNvSpPr txBox="1"/>
          <p:nvPr/>
        </p:nvSpPr>
        <p:spPr>
          <a:xfrm>
            <a:off x="640080" y="3977639"/>
            <a:ext cx="10881360" cy="6858000"/>
          </a:xfrm>
          <a:prstGeom prst="rect">
            <a:avLst/>
          </a:prstGeom>
          <a:noFill/>
        </p:spPr>
        <p:txBody>
          <a:bodyPr wrap="square" anchor="t" lIns="0" rIns="0" tIns="0" bIns="0">
            <a:spAutoFit/>
          </a:bodyPr>
          <a:lstStyle/>
          <a:p>
            <a:pPr algn="l">
              <a:lnSpc>
                <a:spcPct val="120000"/>
              </a:lnSpc>
              <a:spcAft>
                <a:spcPts val="1000"/>
              </a:spcAft>
            </a:pPr>
            <a:r>
              <a:rPr sz="1300" b="1" i="0">
                <a:solidFill>
                  <a:srgbClr val="C2913C"/>
                </a:solidFill>
                <a:latin typeface="IBM Plex Mono"/>
              </a:rPr>
              <a:t>—  </a:t>
            </a:r>
            <a:r>
              <a:rPr sz="1300" b="1" i="0">
                <a:solidFill>
                  <a:srgbClr val="14132B"/>
                </a:solidFill>
                <a:latin typeface="IBM Plex Sans"/>
              </a:rPr>
              <a:t>Searchable, paginated user table</a:t>
            </a:r>
            <a:r>
              <a:rPr sz="1300" b="0" i="0">
                <a:solidFill>
                  <a:srgbClr val="625C7A"/>
                </a:solidFill>
                <a:latin typeface="IBM Plex Sans"/>
              </a:rPr>
              <a:t> — filter by city, name, email, or account type, individually or combined.</a:t>
            </a:r>
          </a:p>
          <a:p>
            <a:pPr algn="l">
              <a:lnSpc>
                <a:spcPct val="120000"/>
              </a:lnSpc>
              <a:spcAft>
                <a:spcPts val="1000"/>
              </a:spcAft>
            </a:pPr>
            <a:r>
              <a:rPr sz="1300" b="1" i="0">
                <a:solidFill>
                  <a:srgbClr val="C2913C"/>
                </a:solidFill>
                <a:latin typeface="IBM Plex Mono"/>
              </a:rPr>
              <a:t>—  </a:t>
            </a:r>
            <a:r>
              <a:rPr sz="1300" b="1" i="0">
                <a:solidFill>
                  <a:srgbClr val="14132B"/>
                </a:solidFill>
                <a:latin typeface="IBM Plex Sans"/>
              </a:rPr>
              <a:t>Inline edit + soft delete</a:t>
            </a:r>
            <a:r>
              <a:rPr sz="1300" b="0" i="0">
                <a:solidFill>
                  <a:srgbClr val="625C7A"/>
                </a:solidFill>
                <a:latin typeface="IBM Plex Sans"/>
              </a:rPr>
              <a:t> — admin actions call the same PUT/DELETE endpoints the API exposes, with confirmation before a destructive action.</a:t>
            </a:r>
          </a:p>
          <a:p>
            <a:pPr algn="l">
              <a:lnSpc>
                <a:spcPct val="120000"/>
              </a:lnSpc>
              <a:spcAft>
                <a:spcPts val="1000"/>
              </a:spcAft>
            </a:pPr>
            <a:r>
              <a:rPr sz="1300" b="1" i="0">
                <a:solidFill>
                  <a:srgbClr val="C2913C"/>
                </a:solidFill>
                <a:latin typeface="IBM Plex Mono"/>
              </a:rPr>
              <a:t>—  </a:t>
            </a:r>
            <a:r>
              <a:rPr sz="1300" b="1" i="0">
                <a:solidFill>
                  <a:srgbClr val="14132B"/>
                </a:solidFill>
                <a:latin typeface="IBM Plex Sans"/>
              </a:rPr>
              <a:t>Numerals in IBM Plex Mono</a:t>
            </a:r>
            <a:r>
              <a:rPr sz="1300" b="0" i="0">
                <a:solidFill>
                  <a:srgbClr val="625C7A"/>
                </a:solidFill>
                <a:latin typeface="IBM Plex Sans"/>
              </a:rPr>
              <a:t> — the design system reserves the monospace face specifically for stat figures and IDs, keeping data-dense screens legible.</a:t>
            </a:r>
          </a:p>
          <a:p>
            <a:pPr algn="l">
              <a:lnSpc>
                <a:spcPct val="120000"/>
              </a:lnSpc>
              <a:spcAft>
                <a:spcPts val="1000"/>
              </a:spcAft>
            </a:pPr>
            <a:r>
              <a:rPr sz="1300" b="1" i="0">
                <a:solidFill>
                  <a:srgbClr val="C2913C"/>
                </a:solidFill>
                <a:latin typeface="IBM Plex Mono"/>
              </a:rPr>
              <a:t>—  </a:t>
            </a:r>
            <a:r>
              <a:rPr sz="1300" b="1" i="0">
                <a:solidFill>
                  <a:srgbClr val="14132B"/>
                </a:solidFill>
                <a:latin typeface="IBM Plex Sans"/>
              </a:rPr>
              <a:t>Same brand, denser layout</a:t>
            </a:r>
            <a:r>
              <a:rPr sz="1300" b="0" i="0">
                <a:solidFill>
                  <a:srgbClr val="625C7A"/>
                </a:solidFill>
                <a:latin typeface="IBM Plex Sans"/>
              </a:rPr>
              <a:t> — ink / vault / brass carried through from the marketing pages, without collapsing into a generic blue admin panel.</a:t>
            </a:r>
          </a:p>
        </p:txBody>
      </p:sp>
      <p:sp>
        <p:nvSpPr>
          <p:cNvPr id="16" name="TextBox 15"/>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625C7A"/>
                </a:solidFill>
                <a:latin typeface="IBM Plex Mono"/>
              </a:rPr>
              <a:t>VAULTKEEP</a:t>
            </a:r>
          </a:p>
        </p:txBody>
      </p:sp>
      <p:sp>
        <p:nvSpPr>
          <p:cNvPr id="17" name="TextBox 16"/>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625C7A"/>
                </a:solidFill>
                <a:latin typeface="IBM Plex Mon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F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1394F"/>
                </a:solidFill>
                <a:latin typeface="IBM Plex Mono"/>
              </a:rPr>
              <a:t>SECURITY</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14132B"/>
                </a:solidFill>
                <a:latin typeface="Fraunces"/>
              </a:rPr>
              <a:t>Security, and the bugs it caught</a:t>
            </a:r>
          </a:p>
        </p:txBody>
      </p:sp>
      <p:sp>
        <p:nvSpPr>
          <p:cNvPr id="4" name="TextBox 3"/>
          <p:cNvSpPr txBox="1"/>
          <p:nvPr/>
        </p:nvSpPr>
        <p:spPr>
          <a:xfrm>
            <a:off x="640080" y="1645920"/>
            <a:ext cx="52120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4B3F94"/>
                </a:solidFill>
                <a:latin typeface="IBM Plex Mono"/>
              </a:rPr>
              <a:t>BY DESIGN</a:t>
            </a:r>
          </a:p>
        </p:txBody>
      </p:sp>
      <p:sp>
        <p:nvSpPr>
          <p:cNvPr id="5" name="TextBox 4"/>
          <p:cNvSpPr txBox="1"/>
          <p:nvPr/>
        </p:nvSpPr>
        <p:spPr>
          <a:xfrm>
            <a:off x="640080" y="2057400"/>
            <a:ext cx="5212080" cy="6858000"/>
          </a:xfrm>
          <a:prstGeom prst="rect">
            <a:avLst/>
          </a:prstGeom>
          <a:noFill/>
        </p:spPr>
        <p:txBody>
          <a:bodyPr wrap="square" anchor="t" lIns="0" rIns="0" tIns="0" bIns="0">
            <a:spAutoFit/>
          </a:bodyPr>
          <a:lstStyle/>
          <a:p>
            <a:pPr algn="l">
              <a:lnSpc>
                <a:spcPct val="125000"/>
              </a:lnSpc>
              <a:spcAft>
                <a:spcPts val="1400"/>
              </a:spcAft>
            </a:pPr>
            <a:r>
              <a:rPr sz="1250" b="1" i="0">
                <a:solidFill>
                  <a:srgbClr val="C2913C"/>
                </a:solidFill>
                <a:latin typeface="IBM Plex Mono"/>
              </a:rPr>
              <a:t>—  </a:t>
            </a:r>
            <a:r>
              <a:rPr sz="1250" b="1" i="0">
                <a:solidFill>
                  <a:srgbClr val="14132B"/>
                </a:solidFill>
                <a:latin typeface="IBM Plex Sans"/>
              </a:rPr>
              <a:t>Password hashing</a:t>
            </a:r>
            <a:r>
              <a:rPr sz="1250" b="0" i="0">
                <a:solidFill>
                  <a:srgbClr val="625C7A"/>
                </a:solidFill>
                <a:latin typeface="IBM Plex Sans"/>
              </a:rPr>
              <a:t> — bcrypt via passlib, with an automatic per-user salt; the plaintext password is never stored.</a:t>
            </a:r>
          </a:p>
          <a:p>
            <a:pPr algn="l">
              <a:lnSpc>
                <a:spcPct val="125000"/>
              </a:lnSpc>
              <a:spcAft>
                <a:spcPts val="1400"/>
              </a:spcAft>
            </a:pPr>
            <a:r>
              <a:rPr sz="1250" b="1" i="0">
                <a:solidFill>
                  <a:srgbClr val="C2913C"/>
                </a:solidFill>
                <a:latin typeface="IBM Plex Mono"/>
              </a:rPr>
              <a:t>—  </a:t>
            </a:r>
            <a:r>
              <a:rPr sz="1250" b="1" i="0">
                <a:solidFill>
                  <a:srgbClr val="14132B"/>
                </a:solidFill>
                <a:latin typeface="IBM Plex Sans"/>
              </a:rPr>
              <a:t>JWT tokens</a:t>
            </a:r>
            <a:r>
              <a:rPr sz="1250" b="0" i="0">
                <a:solidFill>
                  <a:srgbClr val="625C7A"/>
                </a:solidFill>
                <a:latin typeface="IBM Plex Sans"/>
              </a:rPr>
              <a:t> — HS256-signed, embedding user id and role, defaulting to a 60-minute expiration.</a:t>
            </a:r>
          </a:p>
          <a:p>
            <a:pPr algn="l">
              <a:lnSpc>
                <a:spcPct val="125000"/>
              </a:lnSpc>
              <a:spcAft>
                <a:spcPts val="1400"/>
              </a:spcAft>
            </a:pPr>
            <a:r>
              <a:rPr sz="1250" b="1" i="0">
                <a:solidFill>
                  <a:srgbClr val="C2913C"/>
                </a:solidFill>
                <a:latin typeface="IBM Plex Mono"/>
              </a:rPr>
              <a:t>—  </a:t>
            </a:r>
            <a:r>
              <a:rPr sz="1250" b="1" i="0">
                <a:solidFill>
                  <a:srgbClr val="14132B"/>
                </a:solidFill>
                <a:latin typeface="IBM Plex Sans"/>
              </a:rPr>
              <a:t>Input validation</a:t>
            </a:r>
            <a:r>
              <a:rPr sz="1250" b="0" i="0">
                <a:solidFill>
                  <a:srgbClr val="625C7A"/>
                </a:solidFill>
                <a:latin typeface="IBM Plex Sans"/>
              </a:rPr>
              <a:t> — Pydantic v2 schemas reject malformed or unexpected fields before a route body ever runs.</a:t>
            </a:r>
          </a:p>
        </p:txBody>
      </p:sp>
      <p:sp>
        <p:nvSpPr>
          <p:cNvPr id="6" name="TextBox 5"/>
          <p:cNvSpPr txBox="1"/>
          <p:nvPr/>
        </p:nvSpPr>
        <p:spPr>
          <a:xfrm>
            <a:off x="6309360" y="1645920"/>
            <a:ext cx="52120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C1394F"/>
                </a:solidFill>
                <a:latin typeface="IBM Plex Mono"/>
              </a:rPr>
              <a:t>FOUND &amp; FIXED</a:t>
            </a:r>
          </a:p>
        </p:txBody>
      </p:sp>
      <p:sp>
        <p:nvSpPr>
          <p:cNvPr id="7" name="TextBox 6"/>
          <p:cNvSpPr txBox="1"/>
          <p:nvPr/>
        </p:nvSpPr>
        <p:spPr>
          <a:xfrm>
            <a:off x="6309360" y="2057400"/>
            <a:ext cx="5212080" cy="6858000"/>
          </a:xfrm>
          <a:prstGeom prst="rect">
            <a:avLst/>
          </a:prstGeom>
          <a:noFill/>
        </p:spPr>
        <p:txBody>
          <a:bodyPr wrap="square" anchor="t" lIns="0" rIns="0" tIns="0" bIns="0">
            <a:spAutoFit/>
          </a:bodyPr>
          <a:lstStyle/>
          <a:p>
            <a:pPr algn="l">
              <a:lnSpc>
                <a:spcPct val="125000"/>
              </a:lnSpc>
              <a:spcAft>
                <a:spcPts val="1400"/>
              </a:spcAft>
            </a:pPr>
            <a:r>
              <a:rPr sz="1250" b="1" i="0">
                <a:solidFill>
                  <a:srgbClr val="C1394F"/>
                </a:solidFill>
                <a:latin typeface="IBM Plex Mono"/>
              </a:rPr>
              <a:t>—  </a:t>
            </a:r>
            <a:r>
              <a:rPr sz="1250" b="1" i="0">
                <a:solidFill>
                  <a:srgbClr val="14132B"/>
                </a:solidFill>
                <a:latin typeface="IBM Plex Sans"/>
              </a:rPr>
              <a:t>Email-uniqueness race condition</a:t>
            </a:r>
            <a:r>
              <a:rPr sz="1250" b="0" i="0">
                <a:solidFill>
                  <a:srgbClr val="625C7A"/>
                </a:solidFill>
                <a:latin typeface="IBM Plex Sans"/>
              </a:rPr>
              <a:t> — the app-level find-then-insert check wasn't atomic, so two concurrent registrations could both slip through. Fixed with a unique MongoDB index and a DuplicateKeyError handler that turns it into a clean 409.</a:t>
            </a:r>
          </a:p>
          <a:p>
            <a:pPr algn="l">
              <a:lnSpc>
                <a:spcPct val="125000"/>
              </a:lnSpc>
              <a:spcAft>
                <a:spcPts val="1400"/>
              </a:spcAft>
            </a:pPr>
            <a:r>
              <a:rPr sz="1250" b="1" i="0">
                <a:solidFill>
                  <a:srgbClr val="C1394F"/>
                </a:solidFill>
                <a:latin typeface="IBM Plex Mono"/>
              </a:rPr>
              <a:t>—  </a:t>
            </a:r>
            <a:r>
              <a:rPr sz="1250" b="1" i="0">
                <a:solidFill>
                  <a:srgbClr val="14132B"/>
                </a:solidFill>
                <a:latin typeface="IBM Plex Sans"/>
              </a:rPr>
              <a:t>CORS-masked exceptions</a:t>
            </a:r>
            <a:r>
              <a:rPr sz="1250" b="0" i="0">
                <a:solidFill>
                  <a:srgbClr val="625C7A"/>
                </a:solidFill>
                <a:latin typeface="IBM Plex Sans"/>
              </a:rPr>
              <a:t> — Starlette wraps every middleware, including CORSMiddleware, in ServerErrorMiddleware — so an unhandled exception's response never got CORS headers, and a real 500 surfaced in the browser as a misleading CORS error. Fixed with a global exception handler that attaches the headers by hand.</a:t>
            </a:r>
          </a:p>
        </p:txBody>
      </p:sp>
      <p:sp>
        <p:nvSpPr>
          <p:cNvPr id="8" name="TextBox 7"/>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625C7A"/>
                </a:solidFill>
                <a:latin typeface="IBM Plex Mono"/>
              </a:rPr>
              <a:t>VAULTKEEP</a:t>
            </a:r>
          </a:p>
        </p:txBody>
      </p:sp>
      <p:sp>
        <p:nvSpPr>
          <p:cNvPr id="9" name="TextBox 8"/>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625C7A"/>
                </a:solidFill>
                <a:latin typeface="IBM Plex Mon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F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QUALITY</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14132B"/>
                </a:solidFill>
                <a:latin typeface="Fraunces"/>
              </a:rPr>
              <a:t>Testing</a:t>
            </a:r>
          </a:p>
        </p:txBody>
      </p:sp>
      <p:sp>
        <p:nvSpPr>
          <p:cNvPr id="4" name="Rounded Rectangle 3"/>
          <p:cNvSpPr/>
          <p:nvPr/>
        </p:nvSpPr>
        <p:spPr>
          <a:xfrm>
            <a:off x="640080" y="1691640"/>
            <a:ext cx="3017520" cy="2011680"/>
          </a:xfrm>
          <a:prstGeom prst="roundRect">
            <a:avLst>
              <a:gd name="adj" fmla="val 8000"/>
            </a:avLst>
          </a:prstGeom>
          <a:solidFill>
            <a:srgbClr val="14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3017520" cy="914400"/>
          </a:xfrm>
          <a:prstGeom prst="rect">
            <a:avLst/>
          </a:prstGeom>
          <a:noFill/>
        </p:spPr>
        <p:txBody>
          <a:bodyPr wrap="square" anchor="t" lIns="0" rIns="0" tIns="0" bIns="0">
            <a:spAutoFit/>
          </a:bodyPr>
          <a:lstStyle/>
          <a:p>
            <a:pPr algn="ctr">
              <a:lnSpc>
                <a:spcPct val="100000"/>
              </a:lnSpc>
              <a:spcAft>
                <a:spcPts val="0"/>
              </a:spcAft>
            </a:pPr>
            <a:r>
              <a:rPr sz="5400" b="1" i="0">
                <a:solidFill>
                  <a:srgbClr val="C2913C"/>
                </a:solidFill>
                <a:latin typeface="IBM Plex Mono"/>
              </a:rPr>
              <a:t>57</a:t>
            </a:r>
          </a:p>
        </p:txBody>
      </p:sp>
      <p:sp>
        <p:nvSpPr>
          <p:cNvPr id="6" name="TextBox 5"/>
          <p:cNvSpPr txBox="1"/>
          <p:nvPr/>
        </p:nvSpPr>
        <p:spPr>
          <a:xfrm>
            <a:off x="640080" y="3063240"/>
            <a:ext cx="3017520" cy="548640"/>
          </a:xfrm>
          <a:prstGeom prst="rect">
            <a:avLst/>
          </a:prstGeom>
          <a:noFill/>
        </p:spPr>
        <p:txBody>
          <a:bodyPr wrap="square" anchor="t" lIns="0" rIns="0" tIns="0" bIns="0">
            <a:spAutoFit/>
          </a:bodyPr>
          <a:lstStyle/>
          <a:p>
            <a:pPr algn="ctr">
              <a:lnSpc>
                <a:spcPct val="130000"/>
              </a:lnSpc>
              <a:spcAft>
                <a:spcPts val="0"/>
              </a:spcAft>
            </a:pPr>
            <a:r>
              <a:rPr sz="1300" b="0" i="0">
                <a:solidFill>
                  <a:srgbClr val="F6F4FB"/>
                </a:solidFill>
                <a:latin typeface="IBM Plex Sans"/>
              </a:rPr>
              <a:t>automated tests</a:t>
            </a:r>
          </a:p>
          <a:p>
            <a:pPr algn="ctr">
              <a:lnSpc>
                <a:spcPct val="130000"/>
              </a:lnSpc>
              <a:spcAft>
                <a:spcPts val="0"/>
              </a:spcAft>
            </a:pPr>
            <a:r>
              <a:rPr sz="1050" b="0" i="0">
                <a:solidFill>
                  <a:srgbClr val="C7C2DE"/>
                </a:solidFill>
                <a:latin typeface="IBM Plex Sans"/>
              </a:rPr>
              <a:t>pytest + pytest-asyncio</a:t>
            </a:r>
          </a:p>
        </p:txBody>
      </p:sp>
      <p:sp>
        <p:nvSpPr>
          <p:cNvPr id="7" name="TextBox 6"/>
          <p:cNvSpPr txBox="1"/>
          <p:nvPr/>
        </p:nvSpPr>
        <p:spPr>
          <a:xfrm>
            <a:off x="4114800" y="1737360"/>
            <a:ext cx="7406640" cy="6858000"/>
          </a:xfrm>
          <a:prstGeom prst="rect">
            <a:avLst/>
          </a:prstGeom>
          <a:noFill/>
        </p:spPr>
        <p:txBody>
          <a:bodyPr wrap="square" anchor="t" lIns="0" rIns="0" tIns="0" bIns="0">
            <a:spAutoFit/>
          </a:bodyPr>
          <a:lstStyle/>
          <a:p>
            <a:pPr algn="l">
              <a:lnSpc>
                <a:spcPct val="122000"/>
              </a:lnSpc>
              <a:spcAft>
                <a:spcPts val="1200"/>
              </a:spcAft>
            </a:pPr>
            <a:r>
              <a:rPr sz="1200" b="1" i="0">
                <a:solidFill>
                  <a:srgbClr val="C2913C"/>
                </a:solidFill>
                <a:latin typeface="IBM Plex Mono"/>
              </a:rPr>
              <a:t>—  </a:t>
            </a:r>
            <a:r>
              <a:rPr sz="1200" b="1" i="0">
                <a:solidFill>
                  <a:srgbClr val="14132B"/>
                </a:solidFill>
                <a:latin typeface="IBM Plex Sans"/>
              </a:rPr>
              <a:t>test_auth.py</a:t>
            </a:r>
            <a:r>
              <a:rPr sz="1200" b="0" i="0">
                <a:solidFill>
                  <a:srgbClr val="625C7A"/>
                </a:solidFill>
                <a:latin typeface="IBM Plex Sans"/>
              </a:rPr>
              <a:t> — registration and login (success, duplicate email, invalid data, wrong password, soft-deleted account) and the auth mechanism itself (missing/invalid/expired token, admin-only gating).</a:t>
            </a:r>
          </a:p>
          <a:p>
            <a:pPr algn="l">
              <a:lnSpc>
                <a:spcPct val="122000"/>
              </a:lnSpc>
              <a:spcAft>
                <a:spcPts val="1200"/>
              </a:spcAft>
            </a:pPr>
            <a:r>
              <a:rPr sz="1200" b="1" i="0">
                <a:solidFill>
                  <a:srgbClr val="C2913C"/>
                </a:solidFill>
                <a:latin typeface="IBM Plex Mono"/>
              </a:rPr>
              <a:t>—  </a:t>
            </a:r>
            <a:r>
              <a:rPr sz="1200" b="1" i="0">
                <a:solidFill>
                  <a:srgbClr val="14132B"/>
                </a:solidFill>
                <a:latin typeface="IBM Plex Sans"/>
              </a:rPr>
              <a:t>test_users.py</a:t>
            </a:r>
            <a:r>
              <a:rPr sz="1200" b="0" i="0">
                <a:solidFill>
                  <a:srgbClr val="625C7A"/>
                </a:solidFill>
                <a:latin typeface="IBM Plex Sans"/>
              </a:rPr>
              <a:t> — self-profile view/edit, admin listing (pagination math, every filter alone and combined), admin update-by-id, and soft delete (including double-delete and malformed ids).</a:t>
            </a:r>
          </a:p>
          <a:p>
            <a:pPr algn="l">
              <a:lnSpc>
                <a:spcPct val="122000"/>
              </a:lnSpc>
              <a:spcAft>
                <a:spcPts val="1200"/>
              </a:spcAft>
            </a:pPr>
            <a:r>
              <a:rPr sz="1200" b="1" i="0">
                <a:solidFill>
                  <a:srgbClr val="C2913C"/>
                </a:solidFill>
                <a:latin typeface="IBM Plex Mono"/>
              </a:rPr>
              <a:t>—  </a:t>
            </a:r>
            <a:r>
              <a:rPr sz="1200" b="1" i="0">
                <a:solidFill>
                  <a:srgbClr val="14132B"/>
                </a:solidFill>
                <a:latin typeface="IBM Plex Sans"/>
              </a:rPr>
              <a:t>test_stats.py</a:t>
            </a:r>
            <a:r>
              <a:rPr sz="1200" b="0" i="0">
                <a:solidFill>
                  <a:srgbClr val="625C7A"/>
                </a:solidFill>
                <a:latin typeface="IBM Plex Sans"/>
              </a:rPr>
              <a:t> — all three public stats endpoints, focused on confirming soft-deleted users are excluded from every aggregate.</a:t>
            </a:r>
          </a:p>
        </p:txBody>
      </p:sp>
      <p:sp>
        <p:nvSpPr>
          <p:cNvPr id="8" name="TextBox 7"/>
          <p:cNvSpPr txBox="1"/>
          <p:nvPr/>
        </p:nvSpPr>
        <p:spPr>
          <a:xfrm>
            <a:off x="640080" y="4160520"/>
            <a:ext cx="10881360" cy="1463040"/>
          </a:xfrm>
          <a:prstGeom prst="rect">
            <a:avLst/>
          </a:prstGeom>
          <a:noFill/>
        </p:spPr>
        <p:txBody>
          <a:bodyPr wrap="square" anchor="t" lIns="0" rIns="0" tIns="0" bIns="0">
            <a:spAutoFit/>
          </a:bodyPr>
          <a:lstStyle/>
          <a:p>
            <a:pPr algn="l">
              <a:lnSpc>
                <a:spcPct val="135000"/>
              </a:lnSpc>
              <a:spcAft>
                <a:spcPts val="0"/>
              </a:spcAft>
            </a:pPr>
            <a:r>
              <a:rPr sz="1250" b="1" i="0">
                <a:solidFill>
                  <a:srgbClr val="14132B"/>
                </a:solidFill>
                <a:latin typeface="IBM Plex Sans"/>
              </a:rPr>
              <a:t>Isolated test database — </a:t>
            </a:r>
            <a:r>
              <a:rPr sz="1250" b="0" i="0">
                <a:solidFill>
                  <a:srgbClr val="625C7A"/>
                </a:solidFill>
                <a:latin typeface="IBM Plex Sans"/>
              </a:rPr>
              <a:t>the suite runs against the same MongoDB Atlas cluster but a separate database (fastapi_auth_test_db), guarded by a startup assertion that aborts the run if DATABASE_NAME doesn't contain "test" — so a broken override can never quietly point the suite at production data. The users collection is cleared before every individual test, and the whole test database is dropped before and after the session.</a:t>
            </a:r>
          </a:p>
        </p:txBody>
      </p:sp>
      <p:sp>
        <p:nvSpPr>
          <p:cNvPr id="9" name="TextBox 8"/>
          <p:cNvSpPr txBox="1"/>
          <p:nvPr/>
        </p:nvSpPr>
        <p:spPr>
          <a:xfrm>
            <a:off x="640080" y="5623560"/>
            <a:ext cx="10881360" cy="457200"/>
          </a:xfrm>
          <a:prstGeom prst="rect">
            <a:avLst/>
          </a:prstGeom>
          <a:noFill/>
        </p:spPr>
        <p:txBody>
          <a:bodyPr wrap="square" anchor="t" lIns="0" rIns="0" tIns="0" bIns="0">
            <a:spAutoFit/>
          </a:bodyPr>
          <a:lstStyle/>
          <a:p>
            <a:pPr algn="l">
              <a:lnSpc>
                <a:spcPct val="130000"/>
              </a:lnSpc>
              <a:spcAft>
                <a:spcPts val="0"/>
              </a:spcAft>
            </a:pPr>
            <a:r>
              <a:rPr sz="1150" b="0" i="1">
                <a:solidFill>
                  <a:srgbClr val="625C7A"/>
                </a:solidFill>
                <a:latin typeface="IBM Plex Sans"/>
              </a:rPr>
              <a:t>Plus a full manual pre-launch audit — every deployed endpoint independently re-verified live against production via curl.</a:t>
            </a:r>
          </a:p>
        </p:txBody>
      </p:sp>
      <p:sp>
        <p:nvSpPr>
          <p:cNvPr id="10" name="TextBox 9"/>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625C7A"/>
                </a:solidFill>
                <a:latin typeface="IBM Plex Mono"/>
              </a:rPr>
              <a:t>VAULTKEEP</a:t>
            </a:r>
          </a:p>
        </p:txBody>
      </p:sp>
      <p:sp>
        <p:nvSpPr>
          <p:cNvPr id="11" name="TextBox 10"/>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625C7A"/>
                </a:solidFill>
                <a:latin typeface="IBM Plex Mon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F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DESIGN SYSTEM</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14132B"/>
                </a:solidFill>
                <a:latin typeface="Fraunces"/>
              </a:rPr>
              <a:t>The Vaultkeep identity</a:t>
            </a:r>
          </a:p>
        </p:txBody>
      </p:sp>
      <p:sp>
        <p:nvSpPr>
          <p:cNvPr id="4" name="TextBox 3"/>
          <p:cNvSpPr txBox="1"/>
          <p:nvPr/>
        </p:nvSpPr>
        <p:spPr>
          <a:xfrm>
            <a:off x="640080" y="1554480"/>
            <a:ext cx="10881360" cy="640080"/>
          </a:xfrm>
          <a:prstGeom prst="rect">
            <a:avLst/>
          </a:prstGeom>
          <a:noFill/>
        </p:spPr>
        <p:txBody>
          <a:bodyPr wrap="square" anchor="t" lIns="0" rIns="0" tIns="0" bIns="0">
            <a:spAutoFit/>
          </a:bodyPr>
          <a:lstStyle/>
          <a:p>
            <a:pPr algn="l">
              <a:lnSpc>
                <a:spcPct val="130000"/>
              </a:lnSpc>
              <a:spcAft>
                <a:spcPts val="0"/>
              </a:spcAft>
            </a:pPr>
            <a:r>
              <a:rPr sz="1550" b="0" i="1">
                <a:solidFill>
                  <a:srgbClr val="4B3F94"/>
                </a:solidFill>
                <a:latin typeface="Fraunces"/>
              </a:rPr>
              <a:t>“An identity/auth product should feel like a precision security mechanism — a vault door, an official seal — not a generic SaaS blue dashboard.”</a:t>
            </a:r>
          </a:p>
        </p:txBody>
      </p:sp>
      <p:sp>
        <p:nvSpPr>
          <p:cNvPr id="5" name="Rounded Rectangle 4"/>
          <p:cNvSpPr/>
          <p:nvPr/>
        </p:nvSpPr>
        <p:spPr>
          <a:xfrm>
            <a:off x="640080" y="2514600"/>
            <a:ext cx="1691640" cy="777240"/>
          </a:xfrm>
          <a:prstGeom prst="roundRect">
            <a:avLst>
              <a:gd name="adj" fmla="val 8000"/>
            </a:avLst>
          </a:prstGeom>
          <a:solidFill>
            <a:srgbClr val="14132B"/>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355848"/>
            <a:ext cx="1691640" cy="274320"/>
          </a:xfrm>
          <a:prstGeom prst="rect">
            <a:avLst/>
          </a:prstGeom>
          <a:noFill/>
        </p:spPr>
        <p:txBody>
          <a:bodyPr wrap="square" anchor="t" lIns="0" rIns="0" tIns="0" bIns="0">
            <a:spAutoFit/>
          </a:bodyPr>
          <a:lstStyle/>
          <a:p>
            <a:pPr algn="ctr">
              <a:lnSpc>
                <a:spcPct val="100000"/>
              </a:lnSpc>
              <a:spcAft>
                <a:spcPts val="0"/>
              </a:spcAft>
            </a:pPr>
            <a:r>
              <a:rPr sz="1050" b="1" i="0">
                <a:solidFill>
                  <a:srgbClr val="14132B"/>
                </a:solidFill>
                <a:latin typeface="IBM Plex Sans"/>
              </a:rPr>
              <a:t>ink</a:t>
            </a:r>
          </a:p>
        </p:txBody>
      </p:sp>
      <p:sp>
        <p:nvSpPr>
          <p:cNvPr id="7" name="TextBox 6"/>
          <p:cNvSpPr txBox="1"/>
          <p:nvPr/>
        </p:nvSpPr>
        <p:spPr>
          <a:xfrm>
            <a:off x="640080" y="3611880"/>
            <a:ext cx="1691640" cy="274320"/>
          </a:xfrm>
          <a:prstGeom prst="rect">
            <a:avLst/>
          </a:prstGeom>
          <a:noFill/>
        </p:spPr>
        <p:txBody>
          <a:bodyPr wrap="square" anchor="t" lIns="0" rIns="0" tIns="0" bIns="0">
            <a:spAutoFit/>
          </a:bodyPr>
          <a:lstStyle/>
          <a:p>
            <a:pPr algn="ctr">
              <a:lnSpc>
                <a:spcPct val="100000"/>
              </a:lnSpc>
              <a:spcAft>
                <a:spcPts val="0"/>
              </a:spcAft>
            </a:pPr>
            <a:r>
              <a:rPr sz="900" b="0" i="0">
                <a:solidFill>
                  <a:srgbClr val="625C7A"/>
                </a:solidFill>
                <a:latin typeface="IBM Plex Mono"/>
              </a:rPr>
              <a:t>#14132B</a:t>
            </a:r>
          </a:p>
        </p:txBody>
      </p:sp>
      <p:sp>
        <p:nvSpPr>
          <p:cNvPr id="8" name="Rounded Rectangle 7"/>
          <p:cNvSpPr/>
          <p:nvPr/>
        </p:nvSpPr>
        <p:spPr>
          <a:xfrm>
            <a:off x="2441448" y="2514600"/>
            <a:ext cx="1691640" cy="777240"/>
          </a:xfrm>
          <a:prstGeom prst="roundRect">
            <a:avLst>
              <a:gd name="adj" fmla="val 8000"/>
            </a:avLst>
          </a:prstGeom>
          <a:solidFill>
            <a:srgbClr val="4B3F94"/>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41448" y="3355848"/>
            <a:ext cx="1691640" cy="274320"/>
          </a:xfrm>
          <a:prstGeom prst="rect">
            <a:avLst/>
          </a:prstGeom>
          <a:noFill/>
        </p:spPr>
        <p:txBody>
          <a:bodyPr wrap="square" anchor="t" lIns="0" rIns="0" tIns="0" bIns="0">
            <a:spAutoFit/>
          </a:bodyPr>
          <a:lstStyle/>
          <a:p>
            <a:pPr algn="ctr">
              <a:lnSpc>
                <a:spcPct val="100000"/>
              </a:lnSpc>
              <a:spcAft>
                <a:spcPts val="0"/>
              </a:spcAft>
            </a:pPr>
            <a:r>
              <a:rPr sz="1050" b="1" i="0">
                <a:solidFill>
                  <a:srgbClr val="14132B"/>
                </a:solidFill>
                <a:latin typeface="IBM Plex Sans"/>
              </a:rPr>
              <a:t>vault</a:t>
            </a:r>
          </a:p>
        </p:txBody>
      </p:sp>
      <p:sp>
        <p:nvSpPr>
          <p:cNvPr id="10" name="TextBox 9"/>
          <p:cNvSpPr txBox="1"/>
          <p:nvPr/>
        </p:nvSpPr>
        <p:spPr>
          <a:xfrm>
            <a:off x="2441448" y="3611880"/>
            <a:ext cx="1691640" cy="274320"/>
          </a:xfrm>
          <a:prstGeom prst="rect">
            <a:avLst/>
          </a:prstGeom>
          <a:noFill/>
        </p:spPr>
        <p:txBody>
          <a:bodyPr wrap="square" anchor="t" lIns="0" rIns="0" tIns="0" bIns="0">
            <a:spAutoFit/>
          </a:bodyPr>
          <a:lstStyle/>
          <a:p>
            <a:pPr algn="ctr">
              <a:lnSpc>
                <a:spcPct val="100000"/>
              </a:lnSpc>
              <a:spcAft>
                <a:spcPts val="0"/>
              </a:spcAft>
            </a:pPr>
            <a:r>
              <a:rPr sz="900" b="0" i="0">
                <a:solidFill>
                  <a:srgbClr val="625C7A"/>
                </a:solidFill>
                <a:latin typeface="IBM Plex Mono"/>
              </a:rPr>
              <a:t>#4B3F94</a:t>
            </a:r>
          </a:p>
        </p:txBody>
      </p:sp>
      <p:sp>
        <p:nvSpPr>
          <p:cNvPr id="11" name="Rounded Rectangle 10"/>
          <p:cNvSpPr/>
          <p:nvPr/>
        </p:nvSpPr>
        <p:spPr>
          <a:xfrm>
            <a:off x="4242816" y="2514600"/>
            <a:ext cx="1691640" cy="777240"/>
          </a:xfrm>
          <a:prstGeom prst="roundRect">
            <a:avLst>
              <a:gd name="adj" fmla="val 8000"/>
            </a:avLst>
          </a:prstGeom>
          <a:solidFill>
            <a:srgbClr val="C2913C"/>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42816" y="3355848"/>
            <a:ext cx="1691640" cy="274320"/>
          </a:xfrm>
          <a:prstGeom prst="rect">
            <a:avLst/>
          </a:prstGeom>
          <a:noFill/>
        </p:spPr>
        <p:txBody>
          <a:bodyPr wrap="square" anchor="t" lIns="0" rIns="0" tIns="0" bIns="0">
            <a:spAutoFit/>
          </a:bodyPr>
          <a:lstStyle/>
          <a:p>
            <a:pPr algn="ctr">
              <a:lnSpc>
                <a:spcPct val="100000"/>
              </a:lnSpc>
              <a:spcAft>
                <a:spcPts val="0"/>
              </a:spcAft>
            </a:pPr>
            <a:r>
              <a:rPr sz="1050" b="1" i="0">
                <a:solidFill>
                  <a:srgbClr val="14132B"/>
                </a:solidFill>
                <a:latin typeface="IBM Plex Sans"/>
              </a:rPr>
              <a:t>brass</a:t>
            </a:r>
          </a:p>
        </p:txBody>
      </p:sp>
      <p:sp>
        <p:nvSpPr>
          <p:cNvPr id="13" name="TextBox 12"/>
          <p:cNvSpPr txBox="1"/>
          <p:nvPr/>
        </p:nvSpPr>
        <p:spPr>
          <a:xfrm>
            <a:off x="4242816" y="3611880"/>
            <a:ext cx="1691640" cy="274320"/>
          </a:xfrm>
          <a:prstGeom prst="rect">
            <a:avLst/>
          </a:prstGeom>
          <a:noFill/>
        </p:spPr>
        <p:txBody>
          <a:bodyPr wrap="square" anchor="t" lIns="0" rIns="0" tIns="0" bIns="0">
            <a:spAutoFit/>
          </a:bodyPr>
          <a:lstStyle/>
          <a:p>
            <a:pPr algn="ctr">
              <a:lnSpc>
                <a:spcPct val="100000"/>
              </a:lnSpc>
              <a:spcAft>
                <a:spcPts val="0"/>
              </a:spcAft>
            </a:pPr>
            <a:r>
              <a:rPr sz="900" b="0" i="0">
                <a:solidFill>
                  <a:srgbClr val="625C7A"/>
                </a:solidFill>
                <a:latin typeface="IBM Plex Mono"/>
              </a:rPr>
              <a:t>#C2913C</a:t>
            </a:r>
          </a:p>
        </p:txBody>
      </p:sp>
      <p:sp>
        <p:nvSpPr>
          <p:cNvPr id="14" name="Rounded Rectangle 13"/>
          <p:cNvSpPr/>
          <p:nvPr/>
        </p:nvSpPr>
        <p:spPr>
          <a:xfrm>
            <a:off x="6044184" y="2514600"/>
            <a:ext cx="1691640" cy="777240"/>
          </a:xfrm>
          <a:prstGeom prst="roundRect">
            <a:avLst>
              <a:gd name="adj" fmla="val 8000"/>
            </a:avLst>
          </a:prstGeom>
          <a:solidFill>
            <a:srgbClr val="F6F4FB"/>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44184" y="3355848"/>
            <a:ext cx="1691640" cy="274320"/>
          </a:xfrm>
          <a:prstGeom prst="rect">
            <a:avLst/>
          </a:prstGeom>
          <a:noFill/>
        </p:spPr>
        <p:txBody>
          <a:bodyPr wrap="square" anchor="t" lIns="0" rIns="0" tIns="0" bIns="0">
            <a:spAutoFit/>
          </a:bodyPr>
          <a:lstStyle/>
          <a:p>
            <a:pPr algn="ctr">
              <a:lnSpc>
                <a:spcPct val="100000"/>
              </a:lnSpc>
              <a:spcAft>
                <a:spcPts val="0"/>
              </a:spcAft>
            </a:pPr>
            <a:r>
              <a:rPr sz="1050" b="1" i="0">
                <a:solidFill>
                  <a:srgbClr val="14132B"/>
                </a:solidFill>
                <a:latin typeface="IBM Plex Sans"/>
              </a:rPr>
              <a:t>mist</a:t>
            </a:r>
          </a:p>
        </p:txBody>
      </p:sp>
      <p:sp>
        <p:nvSpPr>
          <p:cNvPr id="16" name="TextBox 15"/>
          <p:cNvSpPr txBox="1"/>
          <p:nvPr/>
        </p:nvSpPr>
        <p:spPr>
          <a:xfrm>
            <a:off x="6044184" y="3611880"/>
            <a:ext cx="1691640" cy="274320"/>
          </a:xfrm>
          <a:prstGeom prst="rect">
            <a:avLst/>
          </a:prstGeom>
          <a:noFill/>
        </p:spPr>
        <p:txBody>
          <a:bodyPr wrap="square" anchor="t" lIns="0" rIns="0" tIns="0" bIns="0">
            <a:spAutoFit/>
          </a:bodyPr>
          <a:lstStyle/>
          <a:p>
            <a:pPr algn="ctr">
              <a:lnSpc>
                <a:spcPct val="100000"/>
              </a:lnSpc>
              <a:spcAft>
                <a:spcPts val="0"/>
              </a:spcAft>
            </a:pPr>
            <a:r>
              <a:rPr sz="900" b="0" i="0">
                <a:solidFill>
                  <a:srgbClr val="625C7A"/>
                </a:solidFill>
                <a:latin typeface="IBM Plex Mono"/>
              </a:rPr>
              <a:t>#F6F4FB</a:t>
            </a:r>
          </a:p>
        </p:txBody>
      </p:sp>
      <p:sp>
        <p:nvSpPr>
          <p:cNvPr id="17" name="Rounded Rectangle 16"/>
          <p:cNvSpPr/>
          <p:nvPr/>
        </p:nvSpPr>
        <p:spPr>
          <a:xfrm>
            <a:off x="7845552" y="2514600"/>
            <a:ext cx="1691640" cy="777240"/>
          </a:xfrm>
          <a:prstGeom prst="roundRect">
            <a:avLst>
              <a:gd name="adj" fmla="val 8000"/>
            </a:avLst>
          </a:prstGeom>
          <a:solidFill>
            <a:srgbClr val="E4E1F0"/>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45552" y="3355848"/>
            <a:ext cx="1691640" cy="274320"/>
          </a:xfrm>
          <a:prstGeom prst="rect">
            <a:avLst/>
          </a:prstGeom>
          <a:noFill/>
        </p:spPr>
        <p:txBody>
          <a:bodyPr wrap="square" anchor="t" lIns="0" rIns="0" tIns="0" bIns="0">
            <a:spAutoFit/>
          </a:bodyPr>
          <a:lstStyle/>
          <a:p>
            <a:pPr algn="ctr">
              <a:lnSpc>
                <a:spcPct val="100000"/>
              </a:lnSpc>
              <a:spcAft>
                <a:spcPts val="0"/>
              </a:spcAft>
            </a:pPr>
            <a:r>
              <a:rPr sz="1050" b="1" i="0">
                <a:solidFill>
                  <a:srgbClr val="14132B"/>
                </a:solidFill>
                <a:latin typeface="IBM Plex Sans"/>
              </a:rPr>
              <a:t>fog</a:t>
            </a:r>
          </a:p>
        </p:txBody>
      </p:sp>
      <p:sp>
        <p:nvSpPr>
          <p:cNvPr id="19" name="TextBox 18"/>
          <p:cNvSpPr txBox="1"/>
          <p:nvPr/>
        </p:nvSpPr>
        <p:spPr>
          <a:xfrm>
            <a:off x="7845552" y="3611880"/>
            <a:ext cx="1691640" cy="274320"/>
          </a:xfrm>
          <a:prstGeom prst="rect">
            <a:avLst/>
          </a:prstGeom>
          <a:noFill/>
        </p:spPr>
        <p:txBody>
          <a:bodyPr wrap="square" anchor="t" lIns="0" rIns="0" tIns="0" bIns="0">
            <a:spAutoFit/>
          </a:bodyPr>
          <a:lstStyle/>
          <a:p>
            <a:pPr algn="ctr">
              <a:lnSpc>
                <a:spcPct val="100000"/>
              </a:lnSpc>
              <a:spcAft>
                <a:spcPts val="0"/>
              </a:spcAft>
            </a:pPr>
            <a:r>
              <a:rPr sz="900" b="0" i="0">
                <a:solidFill>
                  <a:srgbClr val="625C7A"/>
                </a:solidFill>
                <a:latin typeface="IBM Plex Mono"/>
              </a:rPr>
              <a:t>#E4E1F0</a:t>
            </a:r>
          </a:p>
        </p:txBody>
      </p:sp>
      <p:sp>
        <p:nvSpPr>
          <p:cNvPr id="20" name="Rounded Rectangle 19"/>
          <p:cNvSpPr/>
          <p:nvPr/>
        </p:nvSpPr>
        <p:spPr>
          <a:xfrm>
            <a:off x="9646920" y="2514600"/>
            <a:ext cx="1691640" cy="777240"/>
          </a:xfrm>
          <a:prstGeom prst="roundRect">
            <a:avLst>
              <a:gd name="adj" fmla="val 8000"/>
            </a:avLst>
          </a:prstGeom>
          <a:solidFill>
            <a:srgbClr val="625C7A"/>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6920" y="3355848"/>
            <a:ext cx="1691640" cy="274320"/>
          </a:xfrm>
          <a:prstGeom prst="rect">
            <a:avLst/>
          </a:prstGeom>
          <a:noFill/>
        </p:spPr>
        <p:txBody>
          <a:bodyPr wrap="square" anchor="t" lIns="0" rIns="0" tIns="0" bIns="0">
            <a:spAutoFit/>
          </a:bodyPr>
          <a:lstStyle/>
          <a:p>
            <a:pPr algn="ctr">
              <a:lnSpc>
                <a:spcPct val="100000"/>
              </a:lnSpc>
              <a:spcAft>
                <a:spcPts val="0"/>
              </a:spcAft>
            </a:pPr>
            <a:r>
              <a:rPr sz="1050" b="1" i="0">
                <a:solidFill>
                  <a:srgbClr val="14132B"/>
                </a:solidFill>
                <a:latin typeface="IBM Plex Sans"/>
              </a:rPr>
              <a:t>slate</a:t>
            </a:r>
          </a:p>
        </p:txBody>
      </p:sp>
      <p:sp>
        <p:nvSpPr>
          <p:cNvPr id="22" name="TextBox 21"/>
          <p:cNvSpPr txBox="1"/>
          <p:nvPr/>
        </p:nvSpPr>
        <p:spPr>
          <a:xfrm>
            <a:off x="9646920" y="3611880"/>
            <a:ext cx="1691640" cy="274320"/>
          </a:xfrm>
          <a:prstGeom prst="rect">
            <a:avLst/>
          </a:prstGeom>
          <a:noFill/>
        </p:spPr>
        <p:txBody>
          <a:bodyPr wrap="square" anchor="t" lIns="0" rIns="0" tIns="0" bIns="0">
            <a:spAutoFit/>
          </a:bodyPr>
          <a:lstStyle/>
          <a:p>
            <a:pPr algn="ctr">
              <a:lnSpc>
                <a:spcPct val="100000"/>
              </a:lnSpc>
              <a:spcAft>
                <a:spcPts val="0"/>
              </a:spcAft>
            </a:pPr>
            <a:r>
              <a:rPr sz="900" b="0" i="0">
                <a:solidFill>
                  <a:srgbClr val="625C7A"/>
                </a:solidFill>
                <a:latin typeface="IBM Plex Mono"/>
              </a:rPr>
              <a:t>#625C7A</a:t>
            </a:r>
          </a:p>
        </p:txBody>
      </p:sp>
      <p:sp>
        <p:nvSpPr>
          <p:cNvPr id="23" name="TextBox 22"/>
          <p:cNvSpPr txBox="1"/>
          <p:nvPr/>
        </p:nvSpPr>
        <p:spPr>
          <a:xfrm>
            <a:off x="640080" y="4206240"/>
            <a:ext cx="52120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4B3F94"/>
                </a:solidFill>
                <a:latin typeface="IBM Plex Mono"/>
              </a:rPr>
              <a:t>TYPOGRAPHY</a:t>
            </a:r>
          </a:p>
        </p:txBody>
      </p:sp>
      <p:sp>
        <p:nvSpPr>
          <p:cNvPr id="24" name="TextBox 23"/>
          <p:cNvSpPr txBox="1"/>
          <p:nvPr/>
        </p:nvSpPr>
        <p:spPr>
          <a:xfrm>
            <a:off x="640080" y="4617720"/>
            <a:ext cx="5212080" cy="6858000"/>
          </a:xfrm>
          <a:prstGeom prst="rect">
            <a:avLst/>
          </a:prstGeom>
          <a:noFill/>
        </p:spPr>
        <p:txBody>
          <a:bodyPr wrap="square" anchor="t" lIns="0" rIns="0" tIns="0" bIns="0">
            <a:spAutoFit/>
          </a:bodyPr>
          <a:lstStyle/>
          <a:p>
            <a:pPr algn="l">
              <a:lnSpc>
                <a:spcPct val="120000"/>
              </a:lnSpc>
              <a:spcAft>
                <a:spcPts val="1000"/>
              </a:spcAft>
            </a:pPr>
            <a:r>
              <a:rPr sz="1200" b="1" i="0">
                <a:solidFill>
                  <a:srgbClr val="C2913C"/>
                </a:solidFill>
                <a:latin typeface="IBM Plex Mono"/>
              </a:rPr>
              <a:t>—  </a:t>
            </a:r>
            <a:r>
              <a:rPr sz="1200" b="1" i="0">
                <a:solidFill>
                  <a:srgbClr val="14132B"/>
                </a:solidFill>
                <a:latin typeface="IBM Plex Sans"/>
              </a:rPr>
              <a:t>Fraunces</a:t>
            </a:r>
            <a:r>
              <a:rPr sz="1200" b="0" i="0">
                <a:solidFill>
                  <a:srgbClr val="625C7A"/>
                </a:solidFill>
                <a:latin typeface="IBM Plex Sans"/>
              </a:rPr>
              <a:t> — display headlines only; ceremonial, engraved character.</a:t>
            </a:r>
          </a:p>
          <a:p>
            <a:pPr algn="l">
              <a:lnSpc>
                <a:spcPct val="120000"/>
              </a:lnSpc>
              <a:spcAft>
                <a:spcPts val="1000"/>
              </a:spcAft>
            </a:pPr>
            <a:r>
              <a:rPr sz="1200" b="1" i="0">
                <a:solidFill>
                  <a:srgbClr val="C2913C"/>
                </a:solidFill>
                <a:latin typeface="IBM Plex Mono"/>
              </a:rPr>
              <a:t>—  </a:t>
            </a:r>
            <a:r>
              <a:rPr sz="1200" b="1" i="0">
                <a:solidFill>
                  <a:srgbClr val="14132B"/>
                </a:solidFill>
                <a:latin typeface="IBM Plex Sans"/>
              </a:rPr>
              <a:t>IBM Plex Sans</a:t>
            </a:r>
            <a:r>
              <a:rPr sz="1200" b="0" i="0">
                <a:solidFill>
                  <a:srgbClr val="625C7A"/>
                </a:solidFill>
                <a:latin typeface="IBM Plex Sans"/>
              </a:rPr>
              <a:t> — body text, chosen deliberately over Inter.</a:t>
            </a:r>
          </a:p>
          <a:p>
            <a:pPr algn="l">
              <a:lnSpc>
                <a:spcPct val="120000"/>
              </a:lnSpc>
              <a:spcAft>
                <a:spcPts val="1000"/>
              </a:spcAft>
            </a:pPr>
            <a:r>
              <a:rPr sz="1200" b="1" i="0">
                <a:solidFill>
                  <a:srgbClr val="C2913C"/>
                </a:solidFill>
                <a:latin typeface="IBM Plex Mono"/>
              </a:rPr>
              <a:t>—  </a:t>
            </a:r>
            <a:r>
              <a:rPr sz="1200" b="1" i="0">
                <a:solidFill>
                  <a:srgbClr val="14132B"/>
                </a:solidFill>
                <a:latin typeface="IBM Plex Sans"/>
              </a:rPr>
              <a:t>IBM Plex Mono</a:t>
            </a:r>
            <a:r>
              <a:rPr sz="1200" b="0" i="0">
                <a:solidFill>
                  <a:srgbClr val="625C7A"/>
                </a:solidFill>
                <a:latin typeface="IBM Plex Sans"/>
              </a:rPr>
              <a:t> — reserved for numerals and data: stat figures, IDs.</a:t>
            </a:r>
          </a:p>
        </p:txBody>
      </p:sp>
      <p:sp>
        <p:nvSpPr>
          <p:cNvPr id="25" name="TextBox 24"/>
          <p:cNvSpPr txBox="1"/>
          <p:nvPr/>
        </p:nvSpPr>
        <p:spPr>
          <a:xfrm>
            <a:off x="6309360" y="4206240"/>
            <a:ext cx="52120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C1394F"/>
                </a:solidFill>
                <a:latin typeface="IBM Plex Mono"/>
              </a:rPr>
              <a:t>DELIBERATELY NOT</a:t>
            </a:r>
          </a:p>
        </p:txBody>
      </p:sp>
      <p:sp>
        <p:nvSpPr>
          <p:cNvPr id="26" name="TextBox 25"/>
          <p:cNvSpPr txBox="1"/>
          <p:nvPr/>
        </p:nvSpPr>
        <p:spPr>
          <a:xfrm>
            <a:off x="6309360" y="4617720"/>
            <a:ext cx="5212080" cy="6858000"/>
          </a:xfrm>
          <a:prstGeom prst="rect">
            <a:avLst/>
          </a:prstGeom>
          <a:noFill/>
        </p:spPr>
        <p:txBody>
          <a:bodyPr wrap="square" anchor="t" lIns="0" rIns="0" tIns="0" bIns="0">
            <a:spAutoFit/>
          </a:bodyPr>
          <a:lstStyle/>
          <a:p>
            <a:pPr algn="l">
              <a:lnSpc>
                <a:spcPct val="120000"/>
              </a:lnSpc>
              <a:spcAft>
                <a:spcPts val="1000"/>
              </a:spcAft>
            </a:pPr>
            <a:r>
              <a:rPr sz="1200" b="1" i="0">
                <a:solidFill>
                  <a:srgbClr val="C1394F"/>
                </a:solidFill>
                <a:latin typeface="IBM Plex Mono"/>
              </a:rPr>
              <a:t>—  </a:t>
            </a:r>
            <a:r>
              <a:rPr sz="1200" b="0" i="0">
                <a:solidFill>
                  <a:srgbClr val="14132B"/>
                </a:solidFill>
                <a:latin typeface="IBM Plex Sans"/>
              </a:rPr>
              <a:t>Warm cream + terracotta</a:t>
            </a:r>
          </a:p>
          <a:p>
            <a:pPr algn="l">
              <a:lnSpc>
                <a:spcPct val="120000"/>
              </a:lnSpc>
              <a:spcAft>
                <a:spcPts val="1000"/>
              </a:spcAft>
            </a:pPr>
            <a:r>
              <a:rPr sz="1200" b="1" i="0">
                <a:solidFill>
                  <a:srgbClr val="C1394F"/>
                </a:solidFill>
                <a:latin typeface="IBM Plex Mono"/>
              </a:rPr>
              <a:t>—  </a:t>
            </a:r>
            <a:r>
              <a:rPr sz="1200" b="0" i="0">
                <a:solidFill>
                  <a:srgbClr val="14132B"/>
                </a:solidFill>
                <a:latin typeface="IBM Plex Sans"/>
              </a:rPr>
              <a:t>Near-black + acid green</a:t>
            </a:r>
          </a:p>
          <a:p>
            <a:pPr algn="l">
              <a:lnSpc>
                <a:spcPct val="120000"/>
              </a:lnSpc>
              <a:spcAft>
                <a:spcPts val="1000"/>
              </a:spcAft>
            </a:pPr>
            <a:r>
              <a:rPr sz="1200" b="1" i="0">
                <a:solidFill>
                  <a:srgbClr val="C1394F"/>
                </a:solidFill>
                <a:latin typeface="IBM Plex Mono"/>
              </a:rPr>
              <a:t>—  </a:t>
            </a:r>
            <a:r>
              <a:rPr sz="1200" b="0" i="0">
                <a:solidFill>
                  <a:srgbClr val="14132B"/>
                </a:solidFill>
                <a:latin typeface="IBM Plex Sans"/>
              </a:rPr>
              <a:t>Zero-radius newspaper layout</a:t>
            </a:r>
          </a:p>
          <a:p>
            <a:pPr algn="l">
              <a:lnSpc>
                <a:spcPct val="120000"/>
              </a:lnSpc>
              <a:spcAft>
                <a:spcPts val="1000"/>
              </a:spcAft>
            </a:pPr>
            <a:r>
              <a:rPr sz="1200" b="1" i="0">
                <a:solidFill>
                  <a:srgbClr val="C1394F"/>
                </a:solidFill>
                <a:latin typeface="IBM Plex Mono"/>
              </a:rPr>
              <a:t>—  </a:t>
            </a:r>
            <a:r>
              <a:rPr sz="1200" b="0" i="0">
                <a:solidFill>
                  <a:srgbClr val="14132B"/>
                </a:solidFill>
                <a:latin typeface="IBM Plex Sans"/>
              </a:rPr>
              <a:t>“Inter for everything” / generic blue admin panel</a:t>
            </a:r>
          </a:p>
        </p:txBody>
      </p:sp>
      <p:sp>
        <p:nvSpPr>
          <p:cNvPr id="27" name="TextBox 26"/>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625C7A"/>
                </a:solidFill>
                <a:latin typeface="IBM Plex Mono"/>
              </a:rPr>
              <a:t>VAULTKEEP</a:t>
            </a:r>
          </a:p>
        </p:txBody>
      </p:sp>
      <p:sp>
        <p:nvSpPr>
          <p:cNvPr id="28" name="TextBox 27"/>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625C7A"/>
                </a:solidFill>
                <a:latin typeface="IBM Plex Mon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F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DEPLOYMENT</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14132B"/>
                </a:solidFill>
                <a:latin typeface="Fraunces"/>
              </a:rPr>
              <a:t>Live, and how it got there</a:t>
            </a:r>
          </a:p>
        </p:txBody>
      </p:sp>
      <p:sp>
        <p:nvSpPr>
          <p:cNvPr id="4" name="Rounded Rectangle 3"/>
          <p:cNvSpPr/>
          <p:nvPr/>
        </p:nvSpPr>
        <p:spPr>
          <a:xfrm>
            <a:off x="640080" y="1691640"/>
            <a:ext cx="5212080" cy="868680"/>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47088"/>
            <a:ext cx="4663440" cy="274320"/>
          </a:xfrm>
          <a:prstGeom prst="rect">
            <a:avLst/>
          </a:prstGeom>
          <a:noFill/>
        </p:spPr>
        <p:txBody>
          <a:bodyPr wrap="square" anchor="t" lIns="0" rIns="0" tIns="0" bIns="0">
            <a:spAutoFit/>
          </a:bodyPr>
          <a:lstStyle/>
          <a:p>
            <a:pPr algn="l">
              <a:lnSpc>
                <a:spcPct val="100000"/>
              </a:lnSpc>
              <a:spcAft>
                <a:spcPts val="0"/>
              </a:spcAft>
            </a:pPr>
            <a:r>
              <a:rPr sz="1050" b="1" i="0">
                <a:solidFill>
                  <a:srgbClr val="4B3F94"/>
                </a:solidFill>
                <a:latin typeface="IBM Plex Mono"/>
              </a:rPr>
              <a:t>BACKEND · RENDER</a:t>
            </a:r>
          </a:p>
        </p:txBody>
      </p:sp>
      <p:sp>
        <p:nvSpPr>
          <p:cNvPr id="6" name="TextBox 5"/>
          <p:cNvSpPr txBox="1"/>
          <p:nvPr/>
        </p:nvSpPr>
        <p:spPr>
          <a:xfrm>
            <a:off x="914400" y="2157984"/>
            <a:ext cx="4663440" cy="365760"/>
          </a:xfrm>
          <a:prstGeom prst="rect">
            <a:avLst/>
          </a:prstGeom>
          <a:noFill/>
        </p:spPr>
        <p:txBody>
          <a:bodyPr wrap="square" anchor="t" lIns="0" rIns="0" tIns="0" bIns="0">
            <a:spAutoFit/>
          </a:bodyPr>
          <a:lstStyle/>
          <a:p>
            <a:pPr algn="l">
              <a:lnSpc>
                <a:spcPct val="100000"/>
              </a:lnSpc>
              <a:spcAft>
                <a:spcPts val="0"/>
              </a:spcAft>
            </a:pPr>
            <a:r>
              <a:rPr sz="1250" b="0" i="0">
                <a:solidFill>
                  <a:srgbClr val="14132B"/>
                </a:solidFill>
                <a:latin typeface="IBM Plex Mono"/>
              </a:rPr>
              <a:t>fastapi-auth-system-q219.onrender.com</a:t>
            </a:r>
          </a:p>
        </p:txBody>
      </p:sp>
      <p:sp>
        <p:nvSpPr>
          <p:cNvPr id="7" name="Rounded Rectangle 6"/>
          <p:cNvSpPr/>
          <p:nvPr/>
        </p:nvSpPr>
        <p:spPr>
          <a:xfrm>
            <a:off x="6355080" y="1691640"/>
            <a:ext cx="5212080" cy="868680"/>
          </a:xfrm>
          <a:prstGeom prst="roundRect">
            <a:avLst>
              <a:gd name="adj" fmla="val 12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29400" y="1847088"/>
            <a:ext cx="4663440" cy="274320"/>
          </a:xfrm>
          <a:prstGeom prst="rect">
            <a:avLst/>
          </a:prstGeom>
          <a:noFill/>
        </p:spPr>
        <p:txBody>
          <a:bodyPr wrap="square" anchor="t" lIns="0" rIns="0" tIns="0" bIns="0">
            <a:spAutoFit/>
          </a:bodyPr>
          <a:lstStyle/>
          <a:p>
            <a:pPr algn="l">
              <a:lnSpc>
                <a:spcPct val="100000"/>
              </a:lnSpc>
              <a:spcAft>
                <a:spcPts val="0"/>
              </a:spcAft>
            </a:pPr>
            <a:r>
              <a:rPr sz="1050" b="1" i="0">
                <a:solidFill>
                  <a:srgbClr val="C2913C"/>
                </a:solidFill>
                <a:latin typeface="IBM Plex Mono"/>
              </a:rPr>
              <a:t>FRONTEND · VERCEL</a:t>
            </a:r>
          </a:p>
        </p:txBody>
      </p:sp>
      <p:sp>
        <p:nvSpPr>
          <p:cNvPr id="9" name="TextBox 8"/>
          <p:cNvSpPr txBox="1"/>
          <p:nvPr/>
        </p:nvSpPr>
        <p:spPr>
          <a:xfrm>
            <a:off x="6629400" y="2157984"/>
            <a:ext cx="4663440" cy="365760"/>
          </a:xfrm>
          <a:prstGeom prst="rect">
            <a:avLst/>
          </a:prstGeom>
          <a:noFill/>
        </p:spPr>
        <p:txBody>
          <a:bodyPr wrap="square" anchor="t" lIns="0" rIns="0" tIns="0" bIns="0">
            <a:spAutoFit/>
          </a:bodyPr>
          <a:lstStyle/>
          <a:p>
            <a:pPr algn="l">
              <a:lnSpc>
                <a:spcPct val="100000"/>
              </a:lnSpc>
              <a:spcAft>
                <a:spcPts val="0"/>
              </a:spcAft>
            </a:pPr>
            <a:r>
              <a:rPr sz="1250" b="0" i="0">
                <a:solidFill>
                  <a:srgbClr val="14132B"/>
                </a:solidFill>
                <a:latin typeface="IBM Plex Mono"/>
              </a:rPr>
              <a:t>fastapi-auth-system-six.vercel.app</a:t>
            </a:r>
          </a:p>
        </p:txBody>
      </p:sp>
      <p:sp>
        <p:nvSpPr>
          <p:cNvPr id="10" name="TextBox 9"/>
          <p:cNvSpPr txBox="1"/>
          <p:nvPr/>
        </p:nvSpPr>
        <p:spPr>
          <a:xfrm>
            <a:off x="640080" y="2880360"/>
            <a:ext cx="10881360" cy="365760"/>
          </a:xfrm>
          <a:prstGeom prst="rect">
            <a:avLst/>
          </a:prstGeom>
          <a:noFill/>
        </p:spPr>
        <p:txBody>
          <a:bodyPr wrap="square" anchor="t" lIns="0" rIns="0" tIns="0" bIns="0">
            <a:spAutoFit/>
          </a:bodyPr>
          <a:lstStyle/>
          <a:p>
            <a:pPr algn="l">
              <a:lnSpc>
                <a:spcPct val="100000"/>
              </a:lnSpc>
              <a:spcAft>
                <a:spcPts val="0"/>
              </a:spcAft>
            </a:pPr>
            <a:r>
              <a:rPr sz="1250" b="1" i="0">
                <a:solidFill>
                  <a:srgbClr val="14132B"/>
                </a:solidFill>
                <a:latin typeface="IBM Plex Sans"/>
              </a:rPr>
              <a:t>CI/CD — </a:t>
            </a:r>
            <a:r>
              <a:rPr sz="1250" b="0" i="0">
                <a:solidFill>
                  <a:srgbClr val="625C7A"/>
                </a:solidFill>
                <a:latin typeface="IBM Plex Sans"/>
              </a:rPr>
              <a:t>both platforms auto-deploy straight from a git push to main; no separate release step.</a:t>
            </a:r>
          </a:p>
        </p:txBody>
      </p:sp>
      <p:sp>
        <p:nvSpPr>
          <p:cNvPr id="11" name="TextBox 10"/>
          <p:cNvSpPr txBox="1"/>
          <p:nvPr/>
        </p:nvSpPr>
        <p:spPr>
          <a:xfrm>
            <a:off x="640080" y="3429000"/>
            <a:ext cx="10881360" cy="320040"/>
          </a:xfrm>
          <a:prstGeom prst="rect">
            <a:avLst/>
          </a:prstGeom>
          <a:noFill/>
        </p:spPr>
        <p:txBody>
          <a:bodyPr wrap="square" anchor="t" lIns="0" rIns="0" tIns="0" bIns="0">
            <a:spAutoFit/>
          </a:bodyPr>
          <a:lstStyle/>
          <a:p>
            <a:pPr algn="l">
              <a:lnSpc>
                <a:spcPct val="100000"/>
              </a:lnSpc>
              <a:spcAft>
                <a:spcPts val="0"/>
              </a:spcAft>
            </a:pPr>
            <a:r>
              <a:rPr sz="1200" b="1" i="0">
                <a:solidFill>
                  <a:srgbClr val="C1394F"/>
                </a:solidFill>
                <a:latin typeface="IBM Plex Mono"/>
              </a:rPr>
              <a:t>REAL DEPLOYMENT CHALLENGES SOLVED</a:t>
            </a:r>
          </a:p>
        </p:txBody>
      </p:sp>
      <p:sp>
        <p:nvSpPr>
          <p:cNvPr id="12" name="TextBox 11"/>
          <p:cNvSpPr txBox="1"/>
          <p:nvPr/>
        </p:nvSpPr>
        <p:spPr>
          <a:xfrm>
            <a:off x="640080" y="3840480"/>
            <a:ext cx="10881360" cy="6858000"/>
          </a:xfrm>
          <a:prstGeom prst="rect">
            <a:avLst/>
          </a:prstGeom>
          <a:noFill/>
        </p:spPr>
        <p:txBody>
          <a:bodyPr wrap="square" anchor="t" lIns="0" rIns="0" tIns="0" bIns="0">
            <a:spAutoFit/>
          </a:bodyPr>
          <a:lstStyle/>
          <a:p>
            <a:pPr algn="l">
              <a:lnSpc>
                <a:spcPct val="118000"/>
              </a:lnSpc>
              <a:spcAft>
                <a:spcPts val="800"/>
              </a:spcAft>
            </a:pPr>
            <a:r>
              <a:rPr sz="1150" b="1" i="0">
                <a:solidFill>
                  <a:srgbClr val="C1394F"/>
                </a:solidFill>
                <a:latin typeface="IBM Plex Mono"/>
              </a:rPr>
              <a:t>—  </a:t>
            </a:r>
            <a:r>
              <a:rPr sz="1150" b="1" i="0">
                <a:solidFill>
                  <a:srgbClr val="14132B"/>
                </a:solidFill>
                <a:latin typeface="IBM Plex Sans"/>
              </a:rPr>
              <a:t>CORS</a:t>
            </a:r>
            <a:r>
              <a:rPr sz="1150" b="0" i="0">
                <a:solidFill>
                  <a:srgbClr val="625C7A"/>
                </a:solidFill>
                <a:latin typeface="IBM Plex Sans"/>
              </a:rPr>
              <a:t> — the exact production origin plus a *.vercel.app regex, both allow-listed with credentials support for the bearer token.</a:t>
            </a:r>
          </a:p>
          <a:p>
            <a:pPr algn="l">
              <a:lnSpc>
                <a:spcPct val="118000"/>
              </a:lnSpc>
              <a:spcAft>
                <a:spcPts val="800"/>
              </a:spcAft>
            </a:pPr>
            <a:r>
              <a:rPr sz="1150" b="1" i="0">
                <a:solidFill>
                  <a:srgbClr val="C1394F"/>
                </a:solidFill>
                <a:latin typeface="IBM Plex Mono"/>
              </a:rPr>
              <a:t>—  </a:t>
            </a:r>
            <a:r>
              <a:rPr sz="1150" b="1" i="0">
                <a:solidFill>
                  <a:srgbClr val="14132B"/>
                </a:solidFill>
                <a:latin typeface="IBM Plex Sans"/>
              </a:rPr>
              <a:t>A broken transitive dependency</a:t>
            </a:r>
            <a:r>
              <a:rPr sz="1150" b="0" i="0">
                <a:solidFill>
                  <a:srgbClr val="625C7A"/>
                </a:solidFill>
                <a:latin typeface="IBM Plex Sans"/>
              </a:rPr>
              <a:t> — Vite's rolldown pre-release pulled in a platform binding with an unparsable version string, failing npm install on Vercel outright; resolved by pinning to a stable Vite release line.</a:t>
            </a:r>
          </a:p>
          <a:p>
            <a:pPr algn="l">
              <a:lnSpc>
                <a:spcPct val="118000"/>
              </a:lnSpc>
              <a:spcAft>
                <a:spcPts val="800"/>
              </a:spcAft>
            </a:pPr>
            <a:r>
              <a:rPr sz="1150" b="1" i="0">
                <a:solidFill>
                  <a:srgbClr val="C1394F"/>
                </a:solidFill>
                <a:latin typeface="IBM Plex Mono"/>
              </a:rPr>
              <a:t>—  </a:t>
            </a:r>
            <a:r>
              <a:rPr sz="1150" b="1" i="0">
                <a:solidFill>
                  <a:srgbClr val="14132B"/>
                </a:solidFill>
                <a:latin typeface="IBM Plex Sans"/>
              </a:rPr>
              <a:t>A silent patch-version break</a:t>
            </a:r>
            <a:r>
              <a:rPr sz="1150" b="0" i="0">
                <a:solidFill>
                  <a:srgbClr val="625C7A"/>
                </a:solidFill>
                <a:latin typeface="IBM Plex Sans"/>
              </a:rPr>
              <a:t> — bcrypt 4.1.0 removed the attribute passlib used to detect it, turning every register/login into a 500 in production only; fixed with an explicit bcrypt&lt;4.1.0 pin.</a:t>
            </a:r>
          </a:p>
          <a:p>
            <a:pPr algn="l">
              <a:lnSpc>
                <a:spcPct val="118000"/>
              </a:lnSpc>
              <a:spcAft>
                <a:spcPts val="800"/>
              </a:spcAft>
            </a:pPr>
            <a:r>
              <a:rPr sz="1150" b="1" i="0">
                <a:solidFill>
                  <a:srgbClr val="C1394F"/>
                </a:solidFill>
                <a:latin typeface="IBM Plex Mono"/>
              </a:rPr>
              <a:t>—  </a:t>
            </a:r>
            <a:r>
              <a:rPr sz="1150" b="1" i="0">
                <a:solidFill>
                  <a:srgbClr val="14132B"/>
                </a:solidFill>
                <a:latin typeface="IBM Plex Sans"/>
              </a:rPr>
              <a:t>SPA routing 404s</a:t>
            </a:r>
            <a:r>
              <a:rPr sz="1150" b="0" i="0">
                <a:solidFill>
                  <a:srgbClr val="625C7A"/>
                </a:solidFill>
                <a:latin typeface="IBM Plex Sans"/>
              </a:rPr>
              <a:t> — refreshing a client-side route 404'd on Vercel until an index.html rewrite rule was added.</a:t>
            </a:r>
          </a:p>
        </p:txBody>
      </p:sp>
      <p:sp>
        <p:nvSpPr>
          <p:cNvPr id="13" name="TextBox 12"/>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625C7A"/>
                </a:solidFill>
                <a:latin typeface="IBM Plex Mono"/>
              </a:rPr>
              <a:t>VAULTKEEP</a:t>
            </a:r>
          </a:p>
        </p:txBody>
      </p:sp>
      <p:sp>
        <p:nvSpPr>
          <p:cNvPr id="14" name="TextBox 13"/>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625C7A"/>
                </a:solidFill>
                <a:latin typeface="IBM Plex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32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LIVE DEMO</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F6F4FB"/>
                </a:solidFill>
                <a:latin typeface="Fraunces"/>
              </a:rPr>
              <a:t>See it running</a:t>
            </a:r>
          </a:p>
        </p:txBody>
      </p:sp>
      <p:sp>
        <p:nvSpPr>
          <p:cNvPr id="4" name="Rounded Rectangle 3"/>
          <p:cNvSpPr/>
          <p:nvPr/>
        </p:nvSpPr>
        <p:spPr>
          <a:xfrm>
            <a:off x="640080" y="1874519"/>
            <a:ext cx="5120640" cy="2880360"/>
          </a:xfrm>
          <a:prstGeom prst="roundRect">
            <a:avLst>
              <a:gd name="adj" fmla="val 6000"/>
            </a:avLst>
          </a:prstGeom>
          <a:solidFill>
            <a:srgbClr val="1F1D3E"/>
          </a:solidFill>
          <a:ln w="19050">
            <a:solidFill>
              <a:srgbClr val="4B3F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572000" cy="365760"/>
          </a:xfrm>
          <a:prstGeom prst="rect">
            <a:avLst/>
          </a:prstGeom>
          <a:noFill/>
        </p:spPr>
        <p:txBody>
          <a:bodyPr wrap="square" anchor="t" lIns="0" rIns="0" tIns="0" bIns="0">
            <a:spAutoFit/>
          </a:bodyPr>
          <a:lstStyle/>
          <a:p>
            <a:pPr algn="l">
              <a:lnSpc>
                <a:spcPct val="100000"/>
              </a:lnSpc>
              <a:spcAft>
                <a:spcPts val="0"/>
              </a:spcAft>
            </a:pPr>
            <a:r>
              <a:rPr sz="1200" b="1" i="0">
                <a:solidFill>
                  <a:srgbClr val="4B3F94"/>
                </a:solidFill>
                <a:latin typeface="IBM Plex Mono"/>
              </a:rPr>
              <a:t>LANDING PAGE</a:t>
            </a:r>
          </a:p>
        </p:txBody>
      </p:sp>
      <p:sp>
        <p:nvSpPr>
          <p:cNvPr id="6" name="TextBox 5"/>
          <p:cNvSpPr txBox="1"/>
          <p:nvPr/>
        </p:nvSpPr>
        <p:spPr>
          <a:xfrm>
            <a:off x="914400" y="2560320"/>
            <a:ext cx="4572000" cy="6858000"/>
          </a:xfrm>
          <a:prstGeom prst="rect">
            <a:avLst/>
          </a:prstGeom>
          <a:noFill/>
        </p:spPr>
        <p:txBody>
          <a:bodyPr wrap="square" anchor="t" lIns="0" rIns="0" tIns="0" bIns="0">
            <a:spAutoFit/>
          </a:bodyPr>
          <a:lstStyle/>
          <a:p>
            <a:pPr algn="l">
              <a:lnSpc>
                <a:spcPct val="125000"/>
              </a:lnSpc>
              <a:spcAft>
                <a:spcPts val="1000"/>
              </a:spcAft>
            </a:pPr>
            <a:r>
              <a:rPr sz="1200" b="1" i="0">
                <a:solidFill>
                  <a:srgbClr val="C2913C"/>
                </a:solidFill>
                <a:latin typeface="IBM Plex Mono"/>
              </a:rPr>
              <a:t>—  </a:t>
            </a:r>
            <a:r>
              <a:rPr sz="1200" b="0" i="0">
                <a:solidFill>
                  <a:srgbClr val="C7C2DE"/>
                </a:solidFill>
                <a:latin typeface="IBM Plex Sans"/>
              </a:rPr>
              <a:t>SealMark hero visual and brand identity</a:t>
            </a:r>
          </a:p>
          <a:p>
            <a:pPr algn="l">
              <a:lnSpc>
                <a:spcPct val="125000"/>
              </a:lnSpc>
              <a:spcAft>
                <a:spcPts val="1000"/>
              </a:spcAft>
            </a:pPr>
            <a:r>
              <a:rPr sz="1200" b="1" i="0">
                <a:solidFill>
                  <a:srgbClr val="C2913C"/>
                </a:solidFill>
                <a:latin typeface="IBM Plex Mono"/>
              </a:rPr>
              <a:t>—  </a:t>
            </a:r>
            <a:r>
              <a:rPr sz="1200" b="0" i="0">
                <a:solidFill>
                  <a:srgbClr val="C7C2DE"/>
                </a:solidFill>
                <a:latin typeface="IBM Plex Sans"/>
              </a:rPr>
              <a:t>Registration and login calls-to-action</a:t>
            </a:r>
          </a:p>
          <a:p>
            <a:pPr algn="l">
              <a:lnSpc>
                <a:spcPct val="125000"/>
              </a:lnSpc>
              <a:spcAft>
                <a:spcPts val="1000"/>
              </a:spcAft>
            </a:pPr>
            <a:r>
              <a:rPr sz="1200" b="1" i="0">
                <a:solidFill>
                  <a:srgbClr val="C2913C"/>
                </a:solidFill>
                <a:latin typeface="IBM Plex Mono"/>
              </a:rPr>
              <a:t>—  </a:t>
            </a:r>
            <a:r>
              <a:rPr sz="1200" b="0" i="0">
                <a:solidFill>
                  <a:srgbClr val="C7C2DE"/>
                </a:solidFill>
                <a:latin typeface="IBM Plex Sans"/>
              </a:rPr>
              <a:t>Public stats teaser, no login required</a:t>
            </a:r>
          </a:p>
        </p:txBody>
      </p:sp>
      <p:sp>
        <p:nvSpPr>
          <p:cNvPr id="7" name="Rounded Rectangle 6"/>
          <p:cNvSpPr/>
          <p:nvPr/>
        </p:nvSpPr>
        <p:spPr>
          <a:xfrm>
            <a:off x="6355080" y="1874519"/>
            <a:ext cx="5120640" cy="2880360"/>
          </a:xfrm>
          <a:prstGeom prst="roundRect">
            <a:avLst>
              <a:gd name="adj" fmla="val 6000"/>
            </a:avLst>
          </a:prstGeom>
          <a:solidFill>
            <a:srgbClr val="1F1D3E"/>
          </a:solidFill>
          <a:ln w="19050">
            <a:solidFill>
              <a:srgbClr val="C29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29400" y="2103120"/>
            <a:ext cx="4572000" cy="365760"/>
          </a:xfrm>
          <a:prstGeom prst="rect">
            <a:avLst/>
          </a:prstGeom>
          <a:noFill/>
        </p:spPr>
        <p:txBody>
          <a:bodyPr wrap="square" anchor="t" lIns="0" rIns="0" tIns="0" bIns="0">
            <a:spAutoFit/>
          </a:bodyPr>
          <a:lstStyle/>
          <a:p>
            <a:pPr algn="l">
              <a:lnSpc>
                <a:spcPct val="100000"/>
              </a:lnSpc>
              <a:spcAft>
                <a:spcPts val="0"/>
              </a:spcAft>
            </a:pPr>
            <a:r>
              <a:rPr sz="1200" b="1" i="0">
                <a:solidFill>
                  <a:srgbClr val="C2913C"/>
                </a:solidFill>
                <a:latin typeface="IBM Plex Mono"/>
              </a:rPr>
              <a:t>ADMIN DASHBOARD</a:t>
            </a:r>
          </a:p>
        </p:txBody>
      </p:sp>
      <p:sp>
        <p:nvSpPr>
          <p:cNvPr id="9" name="TextBox 8"/>
          <p:cNvSpPr txBox="1"/>
          <p:nvPr/>
        </p:nvSpPr>
        <p:spPr>
          <a:xfrm>
            <a:off x="6629400" y="2560320"/>
            <a:ext cx="4572000" cy="6858000"/>
          </a:xfrm>
          <a:prstGeom prst="rect">
            <a:avLst/>
          </a:prstGeom>
          <a:noFill/>
        </p:spPr>
        <p:txBody>
          <a:bodyPr wrap="square" anchor="t" lIns="0" rIns="0" tIns="0" bIns="0">
            <a:spAutoFit/>
          </a:bodyPr>
          <a:lstStyle/>
          <a:p>
            <a:pPr algn="l">
              <a:lnSpc>
                <a:spcPct val="125000"/>
              </a:lnSpc>
              <a:spcAft>
                <a:spcPts val="1000"/>
              </a:spcAft>
            </a:pPr>
            <a:r>
              <a:rPr sz="1200" b="1" i="0">
                <a:solidFill>
                  <a:srgbClr val="C2913C"/>
                </a:solidFill>
                <a:latin typeface="IBM Plex Mono"/>
              </a:rPr>
              <a:t>—  </a:t>
            </a:r>
            <a:r>
              <a:rPr sz="1200" b="0" i="0">
                <a:solidFill>
                  <a:srgbClr val="C7C2DE"/>
                </a:solidFill>
                <a:latin typeface="IBM Plex Sans"/>
              </a:rPr>
              <a:t>Live stat cards (count, avg. age, top cities)</a:t>
            </a:r>
          </a:p>
          <a:p>
            <a:pPr algn="l">
              <a:lnSpc>
                <a:spcPct val="125000"/>
              </a:lnSpc>
              <a:spcAft>
                <a:spcPts val="1000"/>
              </a:spcAft>
            </a:pPr>
            <a:r>
              <a:rPr sz="1200" b="1" i="0">
                <a:solidFill>
                  <a:srgbClr val="C2913C"/>
                </a:solidFill>
                <a:latin typeface="IBM Plex Mono"/>
              </a:rPr>
              <a:t>—  </a:t>
            </a:r>
            <a:r>
              <a:rPr sz="1200" b="0" i="0">
                <a:solidFill>
                  <a:srgbClr val="C7C2DE"/>
                </a:solidFill>
                <a:latin typeface="IBM Plex Sans"/>
              </a:rPr>
              <a:t>Filterable, paginated user table</a:t>
            </a:r>
          </a:p>
          <a:p>
            <a:pPr algn="l">
              <a:lnSpc>
                <a:spcPct val="125000"/>
              </a:lnSpc>
              <a:spcAft>
                <a:spcPts val="1000"/>
              </a:spcAft>
            </a:pPr>
            <a:r>
              <a:rPr sz="1200" b="1" i="0">
                <a:solidFill>
                  <a:srgbClr val="C2913C"/>
                </a:solidFill>
                <a:latin typeface="IBM Plex Mono"/>
              </a:rPr>
              <a:t>—  </a:t>
            </a:r>
            <a:r>
              <a:rPr sz="1200" b="0" i="0">
                <a:solidFill>
                  <a:srgbClr val="C7C2DE"/>
                </a:solidFill>
                <a:latin typeface="IBM Plex Sans"/>
              </a:rPr>
              <a:t>Inline edit and soft delete</a:t>
            </a:r>
          </a:p>
        </p:txBody>
      </p:sp>
      <p:sp>
        <p:nvSpPr>
          <p:cNvPr id="10" name="TextBox 9"/>
          <p:cNvSpPr txBox="1"/>
          <p:nvPr/>
        </p:nvSpPr>
        <p:spPr>
          <a:xfrm>
            <a:off x="640080" y="5074920"/>
            <a:ext cx="10881360" cy="320040"/>
          </a:xfrm>
          <a:prstGeom prst="rect">
            <a:avLst/>
          </a:prstGeom>
          <a:noFill/>
        </p:spPr>
        <p:txBody>
          <a:bodyPr wrap="square" anchor="t" lIns="0" rIns="0" tIns="0" bIns="0">
            <a:spAutoFit/>
          </a:bodyPr>
          <a:lstStyle/>
          <a:p>
            <a:pPr algn="ctr">
              <a:lnSpc>
                <a:spcPct val="100000"/>
              </a:lnSpc>
              <a:spcAft>
                <a:spcPts val="0"/>
              </a:spcAft>
            </a:pPr>
            <a:r>
              <a:rPr sz="1150" b="1" i="0">
                <a:solidFill>
                  <a:srgbClr val="C7C2DE"/>
                </a:solidFill>
                <a:latin typeface="IBM Plex Mono"/>
              </a:rPr>
              <a:t>TRY IT LIVE</a:t>
            </a:r>
          </a:p>
        </p:txBody>
      </p:sp>
      <p:sp>
        <p:nvSpPr>
          <p:cNvPr id="11" name="TextBox 10"/>
          <p:cNvSpPr txBox="1"/>
          <p:nvPr/>
        </p:nvSpPr>
        <p:spPr>
          <a:xfrm>
            <a:off x="640080" y="5440680"/>
            <a:ext cx="10881360" cy="365760"/>
          </a:xfrm>
          <a:prstGeom prst="rect">
            <a:avLst/>
          </a:prstGeom>
          <a:noFill/>
        </p:spPr>
        <p:txBody>
          <a:bodyPr wrap="square" anchor="t" lIns="0" rIns="0" tIns="0" bIns="0">
            <a:spAutoFit/>
          </a:bodyPr>
          <a:lstStyle/>
          <a:p>
            <a:pPr algn="ctr">
              <a:lnSpc>
                <a:spcPct val="100000"/>
              </a:lnSpc>
              <a:spcAft>
                <a:spcPts val="0"/>
              </a:spcAft>
            </a:pPr>
            <a:r>
              <a:rPr sz="1500" b="1" i="0">
                <a:solidFill>
                  <a:srgbClr val="F6F4FB"/>
                </a:solidFill>
                <a:latin typeface="IBM Plex Mono"/>
              </a:rPr>
              <a:t>fastapi-auth-system-six.vercel.app</a:t>
            </a:r>
          </a:p>
        </p:txBody>
      </p:sp>
      <p:sp>
        <p:nvSpPr>
          <p:cNvPr id="12" name="TextBox 11"/>
          <p:cNvSpPr txBox="1"/>
          <p:nvPr/>
        </p:nvSpPr>
        <p:spPr>
          <a:xfrm>
            <a:off x="640080" y="5806440"/>
            <a:ext cx="10881360" cy="365760"/>
          </a:xfrm>
          <a:prstGeom prst="rect">
            <a:avLst/>
          </a:prstGeom>
          <a:noFill/>
        </p:spPr>
        <p:txBody>
          <a:bodyPr wrap="square" anchor="t" lIns="0" rIns="0" tIns="0" bIns="0">
            <a:spAutoFit/>
          </a:bodyPr>
          <a:lstStyle/>
          <a:p>
            <a:pPr algn="ctr">
              <a:lnSpc>
                <a:spcPct val="100000"/>
              </a:lnSpc>
              <a:spcAft>
                <a:spcPts val="0"/>
              </a:spcAft>
            </a:pPr>
            <a:r>
              <a:rPr sz="1200" b="0" i="0">
                <a:solidFill>
                  <a:srgbClr val="C7C2DE"/>
                </a:solidFill>
                <a:latin typeface="IBM Plex Mono"/>
              </a:rPr>
              <a:t>fastapi-auth-system-q219.onrender.com</a:t>
            </a:r>
          </a:p>
        </p:txBody>
      </p:sp>
      <p:sp>
        <p:nvSpPr>
          <p:cNvPr id="13" name="TextBox 12"/>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9A93B8"/>
                </a:solidFill>
                <a:latin typeface="IBM Plex Mono"/>
              </a:rPr>
              <a:t>VAULTKEEP</a:t>
            </a:r>
          </a:p>
        </p:txBody>
      </p:sp>
      <p:sp>
        <p:nvSpPr>
          <p:cNvPr id="14" name="TextBox 13"/>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9A93B8"/>
                </a:solidFill>
                <a:latin typeface="IBM Plex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FB"/>
        </a:solidFill>
        <a:effectLst/>
      </p:bgPr>
    </p:bg>
    <p:spTree>
      <p:nvGrpSpPr>
        <p:cNvPr id="1" name=""/>
        <p:cNvGrpSpPr/>
        <p:nvPr/>
      </p:nvGrpSpPr>
      <p:grpSpPr/>
      <p:sp>
        <p:nvSpPr>
          <p:cNvPr id="2" name="TextBox 1"/>
          <p:cNvSpPr txBox="1"/>
          <p:nvPr/>
        </p:nvSpPr>
        <p:spPr>
          <a:xfrm>
            <a:off x="640080" y="502920"/>
            <a:ext cx="9144000" cy="365760"/>
          </a:xfrm>
          <a:prstGeom prst="rect">
            <a:avLst/>
          </a:prstGeom>
          <a:noFill/>
        </p:spPr>
        <p:txBody>
          <a:bodyPr wrap="square" anchor="t" lIns="0" rIns="0" tIns="0" bIns="0">
            <a:spAutoFit/>
          </a:bodyPr>
          <a:lstStyle/>
          <a:p>
            <a:pPr algn="l">
              <a:lnSpc>
                <a:spcPct val="100000"/>
              </a:lnSpc>
              <a:spcAft>
                <a:spcPts val="0"/>
              </a:spcAft>
            </a:pPr>
            <a:r>
              <a:rPr sz="1250" b="1" i="0">
                <a:solidFill>
                  <a:srgbClr val="C2913C"/>
                </a:solidFill>
                <a:latin typeface="IBM Plex Mono"/>
              </a:rPr>
              <a:t>LESSONS LEARNED</a:t>
            </a:r>
          </a:p>
        </p:txBody>
      </p:sp>
      <p:sp>
        <p:nvSpPr>
          <p:cNvPr id="3" name="TextBox 2"/>
          <p:cNvSpPr txBox="1"/>
          <p:nvPr/>
        </p:nvSpPr>
        <p:spPr>
          <a:xfrm>
            <a:off x="640080" y="777240"/>
            <a:ext cx="10789920" cy="914400"/>
          </a:xfrm>
          <a:prstGeom prst="rect">
            <a:avLst/>
          </a:prstGeom>
          <a:noFill/>
        </p:spPr>
        <p:txBody>
          <a:bodyPr wrap="square" anchor="t" lIns="0" rIns="0" tIns="0" bIns="0">
            <a:spAutoFit/>
          </a:bodyPr>
          <a:lstStyle/>
          <a:p>
            <a:pPr algn="l">
              <a:lnSpc>
                <a:spcPct val="100000"/>
              </a:lnSpc>
              <a:spcAft>
                <a:spcPts val="0"/>
              </a:spcAft>
            </a:pPr>
            <a:r>
              <a:rPr sz="3200" b="1" i="0">
                <a:solidFill>
                  <a:srgbClr val="14132B"/>
                </a:solidFill>
                <a:latin typeface="Fraunces"/>
              </a:rPr>
              <a:t>Three real challenges, solved</a:t>
            </a:r>
          </a:p>
        </p:txBody>
      </p:sp>
      <p:sp>
        <p:nvSpPr>
          <p:cNvPr id="4" name="Rounded Rectangle 3"/>
          <p:cNvSpPr/>
          <p:nvPr/>
        </p:nvSpPr>
        <p:spPr>
          <a:xfrm>
            <a:off x="640080" y="1737360"/>
            <a:ext cx="10881360" cy="1371600"/>
          </a:xfrm>
          <a:prstGeom prst="roundRect">
            <a:avLst>
              <a:gd name="adj" fmla="val 6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82296" cy="1371600"/>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01952"/>
            <a:ext cx="548640" cy="457200"/>
          </a:xfrm>
          <a:prstGeom prst="rect">
            <a:avLst/>
          </a:prstGeom>
          <a:noFill/>
        </p:spPr>
        <p:txBody>
          <a:bodyPr wrap="square" anchor="t" lIns="0" rIns="0" tIns="0" bIns="0">
            <a:spAutoFit/>
          </a:bodyPr>
          <a:lstStyle/>
          <a:p>
            <a:pPr algn="l">
              <a:lnSpc>
                <a:spcPct val="100000"/>
              </a:lnSpc>
              <a:spcAft>
                <a:spcPts val="0"/>
              </a:spcAft>
            </a:pPr>
            <a:r>
              <a:rPr sz="2200" b="1" i="0">
                <a:solidFill>
                  <a:srgbClr val="E4E1F0"/>
                </a:solidFill>
                <a:latin typeface="IBM Plex Mono"/>
              </a:rPr>
              <a:t>01</a:t>
            </a:r>
          </a:p>
        </p:txBody>
      </p:sp>
      <p:sp>
        <p:nvSpPr>
          <p:cNvPr id="7" name="TextBox 6"/>
          <p:cNvSpPr txBox="1"/>
          <p:nvPr/>
        </p:nvSpPr>
        <p:spPr>
          <a:xfrm>
            <a:off x="1600200" y="1920240"/>
            <a:ext cx="9692640" cy="365760"/>
          </a:xfrm>
          <a:prstGeom prst="rect">
            <a:avLst/>
          </a:prstGeom>
          <a:noFill/>
        </p:spPr>
        <p:txBody>
          <a:bodyPr wrap="square" anchor="t" lIns="0" rIns="0" tIns="0" bIns="0">
            <a:spAutoFit/>
          </a:bodyPr>
          <a:lstStyle/>
          <a:p>
            <a:pPr algn="l">
              <a:lnSpc>
                <a:spcPct val="100000"/>
              </a:lnSpc>
              <a:spcAft>
                <a:spcPts val="0"/>
              </a:spcAft>
            </a:pPr>
            <a:r>
              <a:rPr sz="1550" b="1" i="0">
                <a:solidFill>
                  <a:srgbClr val="4B3F94"/>
                </a:solidFill>
                <a:latin typeface="Fraunces"/>
              </a:rPr>
              <a:t>CORS errors that weren't CORS errors</a:t>
            </a:r>
          </a:p>
        </p:txBody>
      </p:sp>
      <p:sp>
        <p:nvSpPr>
          <p:cNvPr id="8" name="TextBox 7"/>
          <p:cNvSpPr txBox="1"/>
          <p:nvPr/>
        </p:nvSpPr>
        <p:spPr>
          <a:xfrm>
            <a:off x="1600200" y="2304288"/>
            <a:ext cx="9692640" cy="731520"/>
          </a:xfrm>
          <a:prstGeom prst="rect">
            <a:avLst/>
          </a:prstGeom>
          <a:noFill/>
        </p:spPr>
        <p:txBody>
          <a:bodyPr wrap="square" anchor="t" lIns="0" rIns="0" tIns="0" bIns="0">
            <a:spAutoFit/>
          </a:bodyPr>
          <a:lstStyle/>
          <a:p>
            <a:pPr algn="l">
              <a:lnSpc>
                <a:spcPct val="125000"/>
              </a:lnSpc>
              <a:spcAft>
                <a:spcPts val="0"/>
              </a:spcAft>
            </a:pPr>
            <a:r>
              <a:rPr sz="1150" b="0" i="0">
                <a:solidFill>
                  <a:srgbClr val="625C7A"/>
                </a:solidFill>
                <a:latin typeface="IBM Plex Sans"/>
              </a:rPr>
              <a:t>Starlette's ServerErrorMiddleware wraps every middleware — including CORSMiddleware — so an unhandled exception's response never got CORS headers at all. The browser reported it as a blocked CORS request, hiding the real 500 underneath.</a:t>
            </a:r>
          </a:p>
        </p:txBody>
      </p:sp>
      <p:sp>
        <p:nvSpPr>
          <p:cNvPr id="9" name="Rounded Rectangle 8"/>
          <p:cNvSpPr/>
          <p:nvPr/>
        </p:nvSpPr>
        <p:spPr>
          <a:xfrm>
            <a:off x="640080" y="3246120"/>
            <a:ext cx="10881360" cy="1371600"/>
          </a:xfrm>
          <a:prstGeom prst="roundRect">
            <a:avLst>
              <a:gd name="adj" fmla="val 6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246120"/>
            <a:ext cx="82296" cy="1371600"/>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410712"/>
            <a:ext cx="548640" cy="457200"/>
          </a:xfrm>
          <a:prstGeom prst="rect">
            <a:avLst/>
          </a:prstGeom>
          <a:noFill/>
        </p:spPr>
        <p:txBody>
          <a:bodyPr wrap="square" anchor="t" lIns="0" rIns="0" tIns="0" bIns="0">
            <a:spAutoFit/>
          </a:bodyPr>
          <a:lstStyle/>
          <a:p>
            <a:pPr algn="l">
              <a:lnSpc>
                <a:spcPct val="100000"/>
              </a:lnSpc>
              <a:spcAft>
                <a:spcPts val="0"/>
              </a:spcAft>
            </a:pPr>
            <a:r>
              <a:rPr sz="2200" b="1" i="0">
                <a:solidFill>
                  <a:srgbClr val="E4E1F0"/>
                </a:solidFill>
                <a:latin typeface="IBM Plex Mono"/>
              </a:rPr>
              <a:t>02</a:t>
            </a:r>
          </a:p>
        </p:txBody>
      </p:sp>
      <p:sp>
        <p:nvSpPr>
          <p:cNvPr id="12" name="TextBox 11"/>
          <p:cNvSpPr txBox="1"/>
          <p:nvPr/>
        </p:nvSpPr>
        <p:spPr>
          <a:xfrm>
            <a:off x="1600200" y="3429000"/>
            <a:ext cx="9692640" cy="365760"/>
          </a:xfrm>
          <a:prstGeom prst="rect">
            <a:avLst/>
          </a:prstGeom>
          <a:noFill/>
        </p:spPr>
        <p:txBody>
          <a:bodyPr wrap="square" anchor="t" lIns="0" rIns="0" tIns="0" bIns="0">
            <a:spAutoFit/>
          </a:bodyPr>
          <a:lstStyle/>
          <a:p>
            <a:pPr algn="l">
              <a:lnSpc>
                <a:spcPct val="100000"/>
              </a:lnSpc>
              <a:spcAft>
                <a:spcPts val="0"/>
              </a:spcAft>
            </a:pPr>
            <a:r>
              <a:rPr sz="1550" b="1" i="0">
                <a:solidFill>
                  <a:srgbClr val="4B3F94"/>
                </a:solidFill>
                <a:latin typeface="Fraunces"/>
              </a:rPr>
              <a:t>A patch-version bump broke production silently</a:t>
            </a:r>
          </a:p>
        </p:txBody>
      </p:sp>
      <p:sp>
        <p:nvSpPr>
          <p:cNvPr id="13" name="TextBox 12"/>
          <p:cNvSpPr txBox="1"/>
          <p:nvPr/>
        </p:nvSpPr>
        <p:spPr>
          <a:xfrm>
            <a:off x="1600200" y="3813048"/>
            <a:ext cx="9692640" cy="731520"/>
          </a:xfrm>
          <a:prstGeom prst="rect">
            <a:avLst/>
          </a:prstGeom>
          <a:noFill/>
        </p:spPr>
        <p:txBody>
          <a:bodyPr wrap="square" anchor="t" lIns="0" rIns="0" tIns="0" bIns="0">
            <a:spAutoFit/>
          </a:bodyPr>
          <a:lstStyle/>
          <a:p>
            <a:pPr algn="l">
              <a:lnSpc>
                <a:spcPct val="125000"/>
              </a:lnSpc>
              <a:spcAft>
                <a:spcPts val="0"/>
              </a:spcAft>
            </a:pPr>
            <a:r>
              <a:rPr sz="1150" b="0" i="0">
                <a:solidFill>
                  <a:srgbClr val="625C7A"/>
                </a:solidFill>
                <a:latin typeface="IBM Plex Sans"/>
              </a:rPr>
              <a:t>bcrypt 4.1.0 removed the internal attribute passlib's bcrypt backend used to detect the installed version. Nothing in local dev caught it — it only surfaced once Render resolved a fresher version than the local environment had.</a:t>
            </a:r>
          </a:p>
        </p:txBody>
      </p:sp>
      <p:sp>
        <p:nvSpPr>
          <p:cNvPr id="14" name="Rounded Rectangle 13"/>
          <p:cNvSpPr/>
          <p:nvPr/>
        </p:nvSpPr>
        <p:spPr>
          <a:xfrm>
            <a:off x="640080" y="4754879"/>
            <a:ext cx="10881360" cy="1371600"/>
          </a:xfrm>
          <a:prstGeom prst="roundRect">
            <a:avLst>
              <a:gd name="adj" fmla="val 6000"/>
            </a:avLst>
          </a:prstGeom>
          <a:solidFill>
            <a:srgbClr val="FFFFFF"/>
          </a:solidFill>
          <a:ln w="12700">
            <a:solidFill>
              <a:srgbClr val="E4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754879"/>
            <a:ext cx="82296" cy="1371600"/>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919471"/>
            <a:ext cx="548640" cy="457200"/>
          </a:xfrm>
          <a:prstGeom prst="rect">
            <a:avLst/>
          </a:prstGeom>
          <a:noFill/>
        </p:spPr>
        <p:txBody>
          <a:bodyPr wrap="square" anchor="t" lIns="0" rIns="0" tIns="0" bIns="0">
            <a:spAutoFit/>
          </a:bodyPr>
          <a:lstStyle/>
          <a:p>
            <a:pPr algn="l">
              <a:lnSpc>
                <a:spcPct val="100000"/>
              </a:lnSpc>
              <a:spcAft>
                <a:spcPts val="0"/>
              </a:spcAft>
            </a:pPr>
            <a:r>
              <a:rPr sz="2200" b="1" i="0">
                <a:solidFill>
                  <a:srgbClr val="E4E1F0"/>
                </a:solidFill>
                <a:latin typeface="IBM Plex Mono"/>
              </a:rPr>
              <a:t>03</a:t>
            </a:r>
          </a:p>
        </p:txBody>
      </p:sp>
      <p:sp>
        <p:nvSpPr>
          <p:cNvPr id="17" name="TextBox 16"/>
          <p:cNvSpPr txBox="1"/>
          <p:nvPr/>
        </p:nvSpPr>
        <p:spPr>
          <a:xfrm>
            <a:off x="1600200" y="4937759"/>
            <a:ext cx="9692640" cy="365760"/>
          </a:xfrm>
          <a:prstGeom prst="rect">
            <a:avLst/>
          </a:prstGeom>
          <a:noFill/>
        </p:spPr>
        <p:txBody>
          <a:bodyPr wrap="square" anchor="t" lIns="0" rIns="0" tIns="0" bIns="0">
            <a:spAutoFit/>
          </a:bodyPr>
          <a:lstStyle/>
          <a:p>
            <a:pPr algn="l">
              <a:lnSpc>
                <a:spcPct val="100000"/>
              </a:lnSpc>
              <a:spcAft>
                <a:spcPts val="0"/>
              </a:spcAft>
            </a:pPr>
            <a:r>
              <a:rPr sz="1550" b="1" i="0">
                <a:solidFill>
                  <a:srgbClr val="4B3F94"/>
                </a:solidFill>
                <a:latin typeface="Fraunces"/>
              </a:rPr>
              <a:t>The platform's own tooling broke the build</a:t>
            </a:r>
          </a:p>
        </p:txBody>
      </p:sp>
      <p:sp>
        <p:nvSpPr>
          <p:cNvPr id="18" name="TextBox 17"/>
          <p:cNvSpPr txBox="1"/>
          <p:nvPr/>
        </p:nvSpPr>
        <p:spPr>
          <a:xfrm>
            <a:off x="1600200" y="5321807"/>
            <a:ext cx="9692640" cy="731520"/>
          </a:xfrm>
          <a:prstGeom prst="rect">
            <a:avLst/>
          </a:prstGeom>
          <a:noFill/>
        </p:spPr>
        <p:txBody>
          <a:bodyPr wrap="square" anchor="t" lIns="0" rIns="0" tIns="0" bIns="0">
            <a:spAutoFit/>
          </a:bodyPr>
          <a:lstStyle/>
          <a:p>
            <a:pPr algn="l">
              <a:lnSpc>
                <a:spcPct val="125000"/>
              </a:lnSpc>
              <a:spcAft>
                <a:spcPts val="0"/>
              </a:spcAft>
            </a:pPr>
            <a:r>
              <a:rPr sz="1150" b="0" i="0">
                <a:solidFill>
                  <a:srgbClr val="625C7A"/>
                </a:solidFill>
                <a:latin typeface="IBM Plex Sans"/>
              </a:rPr>
              <a:t>A pre-release rolldown binary pulled in by a caret-range Vite version had an internal version string npm couldn't parse — failing npm install on Vercel outright, with no code bug involved at all.</a:t>
            </a:r>
          </a:p>
        </p:txBody>
      </p:sp>
      <p:sp>
        <p:nvSpPr>
          <p:cNvPr id="19" name="TextBox 18"/>
          <p:cNvSpPr txBox="1"/>
          <p:nvPr/>
        </p:nvSpPr>
        <p:spPr>
          <a:xfrm>
            <a:off x="10180015" y="6355080"/>
            <a:ext cx="1371600" cy="320040"/>
          </a:xfrm>
          <a:prstGeom prst="rect">
            <a:avLst/>
          </a:prstGeom>
          <a:noFill/>
        </p:spPr>
        <p:txBody>
          <a:bodyPr wrap="square" anchor="t" lIns="0" rIns="0" tIns="0" bIns="0">
            <a:spAutoFit/>
          </a:bodyPr>
          <a:lstStyle/>
          <a:p>
            <a:pPr algn="r">
              <a:lnSpc>
                <a:spcPct val="100000"/>
              </a:lnSpc>
              <a:spcAft>
                <a:spcPts val="0"/>
              </a:spcAft>
            </a:pPr>
            <a:r>
              <a:rPr sz="950" b="1" i="0">
                <a:solidFill>
                  <a:srgbClr val="625C7A"/>
                </a:solidFill>
                <a:latin typeface="IBM Plex Mono"/>
              </a:rPr>
              <a:t>VAULTKEEP</a:t>
            </a:r>
          </a:p>
        </p:txBody>
      </p:sp>
      <p:sp>
        <p:nvSpPr>
          <p:cNvPr id="20" name="TextBox 19"/>
          <p:cNvSpPr txBox="1"/>
          <p:nvPr/>
        </p:nvSpPr>
        <p:spPr>
          <a:xfrm>
            <a:off x="11414455" y="6355080"/>
            <a:ext cx="457200" cy="320040"/>
          </a:xfrm>
          <a:prstGeom prst="rect">
            <a:avLst/>
          </a:prstGeom>
          <a:noFill/>
        </p:spPr>
        <p:txBody>
          <a:bodyPr wrap="square" anchor="t" lIns="0" rIns="0" tIns="0" bIns="0">
            <a:spAutoFit/>
          </a:bodyPr>
          <a:lstStyle/>
          <a:p>
            <a:pPr algn="r">
              <a:lnSpc>
                <a:spcPct val="100000"/>
              </a:lnSpc>
              <a:spcAft>
                <a:spcPts val="0"/>
              </a:spcAft>
            </a:pPr>
            <a:r>
              <a:rPr sz="950" b="0" i="0">
                <a:solidFill>
                  <a:srgbClr val="625C7A"/>
                </a:solidFill>
                <a:latin typeface="IBM Plex Mon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32B"/>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12191695" cy="82296"/>
          </a:xfrm>
          <a:prstGeom prst="rect">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70130" y="1234440"/>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rot="900000">
            <a:off x="6228103" y="1255237"/>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rot="1800000">
            <a:off x="6375311" y="1316213"/>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rot="2700000">
            <a:off x="6501721" y="1413210"/>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3600000">
            <a:off x="6598719" y="1539621"/>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4500000">
            <a:off x="6659694" y="1686828"/>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rot="5400000">
            <a:off x="6680492" y="1844802"/>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rot="6300000">
            <a:off x="6659694" y="2002775"/>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rot="7200000">
            <a:off x="6598719" y="2149983"/>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rot="8100000">
            <a:off x="6501721" y="2276393"/>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rot="9000000">
            <a:off x="6375311" y="2373390"/>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rot="9900000">
            <a:off x="6228103" y="2434366"/>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rot="10800000">
            <a:off x="6070130" y="2455164"/>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rot="11700000">
            <a:off x="5912156" y="2434366"/>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rot="12600000">
            <a:off x="5764949" y="2373390"/>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rot="13500000">
            <a:off x="5638538" y="2276393"/>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rot="14400000">
            <a:off x="5541541" y="2149983"/>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rot="15300000">
            <a:off x="5480565" y="2002775"/>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rot="16200000">
            <a:off x="5459768" y="1844802"/>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rot="17100000">
            <a:off x="5480565" y="1686828"/>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rot="18000000">
            <a:off x="5541541" y="1539621"/>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rot="18900000">
            <a:off x="5638538" y="1413210"/>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rot="19800000">
            <a:off x="5764949" y="1316213"/>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rot="20700000">
            <a:off x="5912156" y="1255237"/>
            <a:ext cx="51434" cy="150876"/>
          </a:xfrm>
          <a:prstGeom prst="roundRect">
            <a:avLst>
              <a:gd name="adj" fmla="val 40000"/>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533491" y="1357884"/>
            <a:ext cx="1124712" cy="1124712"/>
          </a:xfrm>
          <a:prstGeom prst="ellipse">
            <a:avLst/>
          </a:prstGeom>
          <a:noFill/>
          <a:ln w="20320">
            <a:solidFill>
              <a:srgbClr val="C29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670651" y="1495044"/>
            <a:ext cx="850392" cy="850392"/>
          </a:xfrm>
          <a:prstGeom prst="ellipse">
            <a:avLst/>
          </a:prstGeom>
          <a:solidFill>
            <a:srgbClr val="14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5883249" y="1656618"/>
            <a:ext cx="425196" cy="544251"/>
          </a:xfrm>
          <a:custGeom>
            <a:avLst/>
            <a:gdLst/>
            <a:ahLst/>
            <a:cxnLst/>
            <a:rect l="l" t="t" r="r" b="b"/>
            <a:pathLst>
              <a:path w="425196" h="544251">
                <a:moveTo>
                  <a:pt x="212598" y="0"/>
                </a:moveTo>
                <a:lnTo>
                  <a:pt x="425196" y="136063"/>
                </a:lnTo>
                <a:lnTo>
                  <a:pt x="425196" y="284881"/>
                </a:lnTo>
                <a:lnTo>
                  <a:pt x="212598" y="544251"/>
                </a:lnTo>
                <a:lnTo>
                  <a:pt x="0" y="284881"/>
                </a:lnTo>
                <a:lnTo>
                  <a:pt x="0" y="136063"/>
                </a:lnTo>
                <a:lnTo>
                  <a:pt x="212598" y="0"/>
                </a:lnTo>
                <a:close/>
              </a:path>
            </a:pathLst>
          </a:custGeom>
          <a:noFill/>
          <a:ln w="28575">
            <a:solidFill>
              <a:srgbClr val="F6F4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032068" y="1864964"/>
            <a:ext cx="127558" cy="127558"/>
          </a:xfrm>
          <a:prstGeom prst="ellipse">
            <a:avLst/>
          </a:prstGeom>
          <a:solidFill>
            <a:srgbClr val="C29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0" y="2880360"/>
            <a:ext cx="12191695" cy="822960"/>
          </a:xfrm>
          <a:prstGeom prst="rect">
            <a:avLst/>
          </a:prstGeom>
          <a:noFill/>
        </p:spPr>
        <p:txBody>
          <a:bodyPr wrap="square" anchor="t" lIns="0" rIns="0" tIns="0" bIns="0">
            <a:spAutoFit/>
          </a:bodyPr>
          <a:lstStyle/>
          <a:p>
            <a:pPr algn="ctr">
              <a:lnSpc>
                <a:spcPct val="100000"/>
              </a:lnSpc>
              <a:spcAft>
                <a:spcPts val="0"/>
              </a:spcAft>
            </a:pPr>
            <a:r>
              <a:rPr sz="4200" b="1" i="0">
                <a:solidFill>
                  <a:srgbClr val="F6F4FB"/>
                </a:solidFill>
                <a:latin typeface="Fraunces"/>
              </a:rPr>
              <a:t>Thank you</a:t>
            </a:r>
          </a:p>
        </p:txBody>
      </p:sp>
      <p:sp>
        <p:nvSpPr>
          <p:cNvPr id="33" name="TextBox 32"/>
          <p:cNvSpPr txBox="1"/>
          <p:nvPr/>
        </p:nvSpPr>
        <p:spPr>
          <a:xfrm>
            <a:off x="0" y="3611880"/>
            <a:ext cx="12191695" cy="457200"/>
          </a:xfrm>
          <a:prstGeom prst="rect">
            <a:avLst/>
          </a:prstGeom>
          <a:noFill/>
        </p:spPr>
        <p:txBody>
          <a:bodyPr wrap="square" anchor="t" lIns="0" rIns="0" tIns="0" bIns="0">
            <a:spAutoFit/>
          </a:bodyPr>
          <a:lstStyle/>
          <a:p>
            <a:pPr algn="ctr">
              <a:lnSpc>
                <a:spcPct val="100000"/>
              </a:lnSpc>
              <a:spcAft>
                <a:spcPts val="0"/>
              </a:spcAft>
            </a:pPr>
            <a:r>
              <a:rPr sz="1800" b="0" i="1">
                <a:solidFill>
                  <a:srgbClr val="C2913C"/>
                </a:solidFill>
                <a:latin typeface="Fraunces"/>
              </a:rPr>
              <a:t>Questions?</a:t>
            </a:r>
          </a:p>
        </p:txBody>
      </p:sp>
      <p:sp>
        <p:nvSpPr>
          <p:cNvPr id="34" name="TextBox 33"/>
          <p:cNvSpPr txBox="1"/>
          <p:nvPr/>
        </p:nvSpPr>
        <p:spPr>
          <a:xfrm>
            <a:off x="0" y="4526280"/>
            <a:ext cx="12191695" cy="320040"/>
          </a:xfrm>
          <a:prstGeom prst="rect">
            <a:avLst/>
          </a:prstGeom>
          <a:noFill/>
        </p:spPr>
        <p:txBody>
          <a:bodyPr wrap="square" anchor="t" lIns="0" rIns="0" tIns="0" bIns="0">
            <a:spAutoFit/>
          </a:bodyPr>
          <a:lstStyle/>
          <a:p>
            <a:pPr algn="ctr">
              <a:lnSpc>
                <a:spcPct val="100000"/>
              </a:lnSpc>
              <a:spcAft>
                <a:spcPts val="0"/>
              </a:spcAft>
            </a:pPr>
            <a:r>
              <a:rPr sz="1350" b="1" i="0">
                <a:solidFill>
                  <a:srgbClr val="F6F4FB"/>
                </a:solidFill>
                <a:latin typeface="IBM Plex Mono"/>
              </a:rPr>
              <a:t>fastapi-auth-system-six.vercel.app</a:t>
            </a:r>
          </a:p>
        </p:txBody>
      </p:sp>
      <p:sp>
        <p:nvSpPr>
          <p:cNvPr id="35" name="TextBox 34"/>
          <p:cNvSpPr txBox="1"/>
          <p:nvPr/>
        </p:nvSpPr>
        <p:spPr>
          <a:xfrm>
            <a:off x="0" y="4864608"/>
            <a:ext cx="12191695" cy="320040"/>
          </a:xfrm>
          <a:prstGeom prst="rect">
            <a:avLst/>
          </a:prstGeom>
          <a:noFill/>
        </p:spPr>
        <p:txBody>
          <a:bodyPr wrap="square" anchor="t" lIns="0" rIns="0" tIns="0" bIns="0">
            <a:spAutoFit/>
          </a:bodyPr>
          <a:lstStyle/>
          <a:p>
            <a:pPr algn="ctr">
              <a:lnSpc>
                <a:spcPct val="100000"/>
              </a:lnSpc>
              <a:spcAft>
                <a:spcPts val="0"/>
              </a:spcAft>
            </a:pPr>
            <a:r>
              <a:rPr sz="1200" b="0" i="0">
                <a:solidFill>
                  <a:srgbClr val="C7C2DE"/>
                </a:solidFill>
                <a:latin typeface="IBM Plex Mono"/>
              </a:rPr>
              <a:t>fastapi-auth-system-q219.onrender.com</a:t>
            </a:r>
          </a:p>
        </p:txBody>
      </p:sp>
      <p:sp>
        <p:nvSpPr>
          <p:cNvPr id="36" name="TextBox 35"/>
          <p:cNvSpPr txBox="1"/>
          <p:nvPr/>
        </p:nvSpPr>
        <p:spPr>
          <a:xfrm>
            <a:off x="0" y="5202936"/>
            <a:ext cx="12191695" cy="320040"/>
          </a:xfrm>
          <a:prstGeom prst="rect">
            <a:avLst/>
          </a:prstGeom>
          <a:noFill/>
        </p:spPr>
        <p:txBody>
          <a:bodyPr wrap="square" anchor="t" lIns="0" rIns="0" tIns="0" bIns="0">
            <a:spAutoFit/>
          </a:bodyPr>
          <a:lstStyle/>
          <a:p>
            <a:pPr algn="ctr">
              <a:lnSpc>
                <a:spcPct val="100000"/>
              </a:lnSpc>
              <a:spcAft>
                <a:spcPts val="0"/>
              </a:spcAft>
            </a:pPr>
            <a:r>
              <a:rPr sz="1100" b="0" i="0">
                <a:solidFill>
                  <a:srgbClr val="C7C2DE"/>
                </a:solidFill>
                <a:latin typeface="IBM Plex Mono"/>
              </a:rPr>
              <a:t>github.com/kassemamin22-creator/fastapi-auth-system</a:t>
            </a:r>
          </a:p>
        </p:txBody>
      </p:sp>
      <p:sp>
        <p:nvSpPr>
          <p:cNvPr id="37" name="TextBox 36"/>
          <p:cNvSpPr txBox="1"/>
          <p:nvPr/>
        </p:nvSpPr>
        <p:spPr>
          <a:xfrm>
            <a:off x="0" y="6126480"/>
            <a:ext cx="12191695" cy="320040"/>
          </a:xfrm>
          <a:prstGeom prst="rect">
            <a:avLst/>
          </a:prstGeom>
          <a:noFill/>
        </p:spPr>
        <p:txBody>
          <a:bodyPr wrap="square" anchor="t" lIns="0" rIns="0" tIns="0" bIns="0">
            <a:spAutoFit/>
          </a:bodyPr>
          <a:lstStyle/>
          <a:p>
            <a:pPr algn="ctr">
              <a:lnSpc>
                <a:spcPct val="100000"/>
              </a:lnSpc>
              <a:spcAft>
                <a:spcPts val="0"/>
              </a:spcAft>
            </a:pPr>
            <a:r>
              <a:rPr sz="1150" b="0" i="0">
                <a:solidFill>
                  <a:srgbClr val="C7C2DE"/>
                </a:solidFill>
                <a:latin typeface="IBM Plex Sans"/>
              </a:rPr>
              <a:t>Kassem Amin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